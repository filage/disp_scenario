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e8f917f52a4d50" /><Relationship Type="http://schemas.openxmlformats.org/officeDocument/2006/relationships/extended-properties" Target="/docProps/app.xml" Id="R3bec5a0d84d24698" /><Relationship Type="http://schemas.openxmlformats.org/officeDocument/2006/relationships/officeDocument" Target="/ppt/presentation.xml" Id="R1ac2348f4d4749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7ae3849f554814"/>
  </p:sldMasterIdLst>
  <p:notesMasterIdLst>
    <p:notesMasterId xmlns:r="http://schemas.openxmlformats.org/officeDocument/2006/relationships" r:id="Rce8bd399f9b14ade"/>
  </p:notesMasterIdLst>
  <p:sldIdLst>
    <p:sldId xmlns:r="http://schemas.openxmlformats.org/officeDocument/2006/relationships" id="256" r:id="R20ee982f67154eb4"/>
    <p:sldId xmlns:r="http://schemas.openxmlformats.org/officeDocument/2006/relationships" id="257" r:id="R6cda2f8a60dd44cb"/>
    <p:sldId xmlns:r="http://schemas.openxmlformats.org/officeDocument/2006/relationships" id="258" r:id="R658caaf1afa744e8"/>
    <p:sldId xmlns:r="http://schemas.openxmlformats.org/officeDocument/2006/relationships" id="259" r:id="R97960f4b45a84688"/>
    <p:sldId xmlns:r="http://schemas.openxmlformats.org/officeDocument/2006/relationships" id="260" r:id="R163a4dcfc27b4cec"/>
    <p:sldId xmlns:r="http://schemas.openxmlformats.org/officeDocument/2006/relationships" id="261" r:id="R9e1ca5dded6e40cb"/>
    <p:sldId xmlns:r="http://schemas.openxmlformats.org/officeDocument/2006/relationships" id="262" r:id="R888c7fb449ed491f"/>
    <p:sldId xmlns:r="http://schemas.openxmlformats.org/officeDocument/2006/relationships" id="263" r:id="R64ceaeab9b1d4f57"/>
    <p:sldId xmlns:r="http://schemas.openxmlformats.org/officeDocument/2006/relationships" id="264" r:id="Rbc34b9fda6f14282"/>
    <p:sldId xmlns:r="http://schemas.openxmlformats.org/officeDocument/2006/relationships" id="265" r:id="Rba9b66b52cc54c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c220af1eb44c24" /><Relationship Type="http://schemas.openxmlformats.org/officeDocument/2006/relationships/slideMaster" Target="/ppt/slideMasters/slideMaster1.xml" Id="R3c7ae3849f554814" /><Relationship Type="http://schemas.openxmlformats.org/officeDocument/2006/relationships/notesMaster" Target="/ppt/notesMasters/notesMaster1.xml" Id="Rce8bd399f9b14ade" /><Relationship Type="http://schemas.openxmlformats.org/officeDocument/2006/relationships/presProps" Target="/ppt/presProps.xml" Id="Rb76bd5bcbd83450b" /><Relationship Type="http://schemas.openxmlformats.org/officeDocument/2006/relationships/tableStyles" Target="/ppt/tableStyles.xml" Id="Rca3e0fcfbf2a4cce" /><Relationship Type="http://schemas.openxmlformats.org/officeDocument/2006/relationships/slide" Target="/ppt/slides/slide1.xml" Id="R20ee982f67154eb4" /><Relationship Type="http://schemas.openxmlformats.org/officeDocument/2006/relationships/slide" Target="/ppt/slides/slide2.xml" Id="R6cda2f8a60dd44cb" /><Relationship Type="http://schemas.openxmlformats.org/officeDocument/2006/relationships/slide" Target="/ppt/slides/slide3.xml" Id="R658caaf1afa744e8" /><Relationship Type="http://schemas.openxmlformats.org/officeDocument/2006/relationships/slide" Target="/ppt/slides/slide4.xml" Id="R97960f4b45a84688" /><Relationship Type="http://schemas.openxmlformats.org/officeDocument/2006/relationships/slide" Target="/ppt/slides/slide5.xml" Id="R163a4dcfc27b4cec" /><Relationship Type="http://schemas.openxmlformats.org/officeDocument/2006/relationships/slide" Target="/ppt/slides/slide6.xml" Id="R9e1ca5dded6e40cb" /><Relationship Type="http://schemas.openxmlformats.org/officeDocument/2006/relationships/slide" Target="/ppt/slides/slide7.xml" Id="R888c7fb449ed491f" /><Relationship Type="http://schemas.openxmlformats.org/officeDocument/2006/relationships/slide" Target="/ppt/slides/slide8.xml" Id="R64ceaeab9b1d4f57" /><Relationship Type="http://schemas.openxmlformats.org/officeDocument/2006/relationships/slide" Target="/ppt/slides/slide9.xml" Id="Rbc34b9fda6f14282" /><Relationship Type="http://schemas.openxmlformats.org/officeDocument/2006/relationships/slide" Target="/ppt/slides/slide10.xml" Id="Rba9b66b52cc54c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cba181ab264d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f97af285d14af8" /><Relationship Type="http://schemas.openxmlformats.org/officeDocument/2006/relationships/notesMaster" Target="/ppt/notesMasters/notesMaster1.xml" Id="R3f23f660236d4c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13a7e6cf504d76" /><Relationship Type="http://schemas.openxmlformats.org/officeDocument/2006/relationships/notesMaster" Target="/ppt/notesMasters/notesMaster1.xml" Id="R249ab93cdded45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859699ca5a442c" /><Relationship Type="http://schemas.openxmlformats.org/officeDocument/2006/relationships/notesMaster" Target="/ppt/notesMasters/notesMaster1.xml" Id="Ra25fe39dc0e44e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69b373e17343df" /><Relationship Type="http://schemas.openxmlformats.org/officeDocument/2006/relationships/notesMaster" Target="/ppt/notesMasters/notesMaster1.xml" Id="Raf095fa564774b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62f6c1358f43d0" /><Relationship Type="http://schemas.openxmlformats.org/officeDocument/2006/relationships/notesMaster" Target="/ppt/notesMasters/notesMaster1.xml" Id="Rae6111e927e040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5892a010784b9e" /><Relationship Type="http://schemas.openxmlformats.org/officeDocument/2006/relationships/notesMaster" Target="/ppt/notesMasters/notesMaster1.xml" Id="Rae0779d5e73444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a4bb94c6964472" /><Relationship Type="http://schemas.openxmlformats.org/officeDocument/2006/relationships/notesMaster" Target="/ppt/notesMasters/notesMaster1.xml" Id="Rb10b0d99861943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0d172fd1d14af9" /><Relationship Type="http://schemas.openxmlformats.org/officeDocument/2006/relationships/notesMaster" Target="/ppt/notesMasters/notesMaster1.xml" Id="R96477470fc6546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9b220712f44dca" /><Relationship Type="http://schemas.openxmlformats.org/officeDocument/2006/relationships/notesMaster" Target="/ppt/notesMasters/notesMaster1.xml" Id="R6148b9ab38d94a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9fb584d8264430" /><Relationship Type="http://schemas.openxmlformats.org/officeDocument/2006/relationships/notesMaster" Target="/ppt/notesMasters/notesMaster1.xml" Id="R58a7f21719e648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8ff3754e44e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027b2303d248a1" /><Relationship Type="http://schemas.openxmlformats.org/officeDocument/2006/relationships/slideLayout" Target="/ppt/slideLayouts/slideLayout1.xml" Id="Rde712670d4794c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712670d4794c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6e866be574dab" /><Relationship Type="http://schemas.openxmlformats.org/officeDocument/2006/relationships/image" Target="/ppt/media/image.png" Id="R6c17f453f7fe4b8f" /><Relationship Type="http://schemas.openxmlformats.org/officeDocument/2006/relationships/notesSlide" Target="/ppt/notesSlides/notesSlide1.xml" Id="R8cad09fbea6b4d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535eece524815" /><Relationship Type="http://schemas.openxmlformats.org/officeDocument/2006/relationships/notesSlide" Target="/ppt/notesSlides/notesSlide2.xml" Id="Rb0a8b51094d746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289c6b11c49e1" /><Relationship Type="http://schemas.openxmlformats.org/officeDocument/2006/relationships/notesSlide" Target="/ppt/notesSlides/notesSlide3.xml" Id="Rfb3bb98e5fb54b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77dd2059a4239" /><Relationship Type="http://schemas.openxmlformats.org/officeDocument/2006/relationships/image" Target="/ppt/media/image2.png" Id="R73d6af6706d148bf" /><Relationship Type="http://schemas.openxmlformats.org/officeDocument/2006/relationships/notesSlide" Target="/ppt/notesSlides/notesSlide4.xml" Id="R5ca81d0779224e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e37195aa844d4" /><Relationship Type="http://schemas.openxmlformats.org/officeDocument/2006/relationships/notesSlide" Target="/ppt/notesSlides/notesSlide5.xml" Id="R29753c91b6cb44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f459e50354be4" /><Relationship Type="http://schemas.openxmlformats.org/officeDocument/2006/relationships/image" Target="/ppt/media/image3.png" Id="Re4f0f5ab9f644fde" /><Relationship Type="http://schemas.openxmlformats.org/officeDocument/2006/relationships/notesSlide" Target="/ppt/notesSlides/notesSlide6.xml" Id="Rd58a6691773f4a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8365df08d4091" /><Relationship Type="http://schemas.openxmlformats.org/officeDocument/2006/relationships/image" Target="/ppt/media/image4.png" Id="R42999ac22eb24206" /><Relationship Type="http://schemas.openxmlformats.org/officeDocument/2006/relationships/notesSlide" Target="/ppt/notesSlides/notesSlide7.xml" Id="Ra00663f5e41948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5b3ec1aba4f35" /><Relationship Type="http://schemas.openxmlformats.org/officeDocument/2006/relationships/image" Target="/ppt/media/image5.png" Id="Ra71284cb0f0c4c95" /><Relationship Type="http://schemas.openxmlformats.org/officeDocument/2006/relationships/notesSlide" Target="/ppt/notesSlides/notesSlide8.xml" Id="R8d00161d0e9547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22933f852488d" /><Relationship Type="http://schemas.openxmlformats.org/officeDocument/2006/relationships/notesSlide" Target="/ppt/notesSlides/notesSlide9.xml" Id="R160bd3b734194c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b5e7b9b4e4319" /><Relationship Type="http://schemas.openxmlformats.org/officeDocument/2006/relationships/notesSlide" Target="/ppt/notesSlides/notesSlide10.xml" Id="Rf96b39fe7fc542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52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1">
            <a:extLst xmlns:a="http://schemas.openxmlformats.org/drawingml/2006/main">
              <a:ext uri="{FF2B5EF4-FFF2-40B4-BE49-F238E27FC236}">
                <a16:creationId xmlns:a16="http://schemas.microsoft.com/office/drawing/2014/main" id="{AAD77397-0EF4-4400-AD12-45423181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F7F4"/>
                </a:solidFill>
              </a:defRPr>
            </a:pPr>
            <a:r>
              <a:rPr sz="4200" b="1">
                <a:solidFill>
                  <a:srgbClr val="F7F7F4"/>
                </a:solidFill>
              </a:rPr>
              <a:t>Оцифровка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AD86EFF-0D49-4B6E-AED8-99505B70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79C7E3"/>
                </a:solidFill>
              </a:defRPr>
            </a:pPr>
            <a:r>
              <a:rPr sz="4200" b="1">
                <a:solidFill>
                  <a:srgbClr val="79C7E3"/>
                </a:solidFill>
              </a:rPr>
              <a:t>диспетчерских сценариев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7E921C1-7C4A-4492-BC28-7B30C66C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7F4"/>
                </a:solidFill>
              </a:defRPr>
            </a:pPr>
            <a:r>
              <a:rPr sz="1650" b="0">
                <a:solidFill>
                  <a:srgbClr val="F7F7F4"/>
                </a:solidFill>
              </a:rPr>
              <a:t>От видеозаписи работы диспетчера — к карте процессов, метрикам и кандидатам на автоматизацию</a:t>
            </a:r>
          </a:p>
        </p:txBody>
      </p:sp>
      <p:sp>
        <p:nvSpPr>
          <p:cNvPr id="4" name="box-4">
            <a:extLst xmlns:a="http://schemas.openxmlformats.org/drawingml/2006/main">
              <a:ext uri="{FF2B5EF4-FFF2-40B4-BE49-F238E27FC236}">
                <a16:creationId xmlns:a16="http://schemas.microsoft.com/office/drawing/2014/main" id="{D07EDBE0-23F7-4BEE-85FF-F9AA7B5A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09E0451-C721-478B-8EEA-A60ED063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71925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C8"/>
                </a:solidFill>
              </a:defRPr>
            </a:pPr>
            <a:r>
              <a:rPr sz="1200" b="0">
                <a:solidFill>
                  <a:srgbClr val="B7C0C8"/>
                </a:solidFill>
              </a:rPr>
              <a:t>Рабочий прототип • видеоанализ • QA • production deploy</a:t>
            </a:r>
          </a:p>
        </p:txBody>
      </p:sp>
      <p:sp>
        <p:nvSpPr>
          <p:cNvPr id="6" name="box-6">
            <a:extLst xmlns:a="http://schemas.openxmlformats.org/drawingml/2006/main">
              <a:ext uri="{FF2B5EF4-FFF2-40B4-BE49-F238E27FC236}">
                <a16:creationId xmlns:a16="http://schemas.microsoft.com/office/drawing/2014/main" id="{A9B675B5-F765-438E-9AFF-B1637415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85800"/>
            <a:ext cx="4171950" cy="541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7f453f7fe4b8f"/>
          <a:stretch xmlns:a="http://schemas.openxmlformats.org/drawingml/2006/main"/>
        </p:blipFill>
        <p:spPr>
          <a:xfrm xmlns:a="http://schemas.openxmlformats.org/drawingml/2006/main">
            <a:off x="7620000" y="2041894"/>
            <a:ext cx="3867150" cy="26980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003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52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">
            <a:extLst xmlns:a="http://schemas.openxmlformats.org/drawingml/2006/main">
              <a:ext uri="{FF2B5EF4-FFF2-40B4-BE49-F238E27FC236}">
                <a16:creationId xmlns:a16="http://schemas.microsoft.com/office/drawing/2014/main" id="{CAE1151C-D4C1-4EC4-A017-B3210CE5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DISPATCHER INTELLIGENCE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3948CE6E-B0E7-48F2-9848-94054F2D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4"/>
                </a:solidFill>
              </a:defRPr>
            </a:pPr>
            <a:r>
              <a:rPr sz="2850" b="1">
                <a:solidFill>
                  <a:srgbClr val="F7F7F4"/>
                </a:solidFill>
              </a:rPr>
              <a:t>Почему эту работу нужно оцифровать</a:t>
            </a:r>
          </a:p>
        </p:txBody>
      </p:sp>
      <p:sp>
        <p:nvSpPr>
          <p:cNvPr id="3" name="box-9">
            <a:extLst xmlns:a="http://schemas.openxmlformats.org/drawingml/2006/main">
              <a:ext uri="{FF2B5EF4-FFF2-40B4-BE49-F238E27FC236}">
                <a16:creationId xmlns:a16="http://schemas.microsoft.com/office/drawing/2014/main" id="{94CC975F-1746-45BD-ACDD-43DAF051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0">
            <a:extLst xmlns:a="http://schemas.openxmlformats.org/drawingml/2006/main">
              <a:ext uri="{FF2B5EF4-FFF2-40B4-BE49-F238E27FC236}">
                <a16:creationId xmlns:a16="http://schemas.microsoft.com/office/drawing/2014/main" id="{B81EC248-96AC-4940-9CDF-3EFB8AFE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C0C8"/>
                </a:solidFill>
              </a:defRPr>
            </a:pPr>
            <a:r>
              <a:rPr sz="825" b="1">
                <a:solidFill>
                  <a:srgbClr val="B7C0C8"/>
                </a:solidFill>
              </a:rPr>
              <a:t>02</a:t>
            </a:r>
          </a:p>
        </p:txBody>
      </p:sp>
      <p:sp>
        <p:nvSpPr>
          <p:cNvPr id="5" name="text-11">
            <a:extLst xmlns:a="http://schemas.openxmlformats.org/drawingml/2006/main">
              <a:ext uri="{FF2B5EF4-FFF2-40B4-BE49-F238E27FC236}">
                <a16:creationId xmlns:a16="http://schemas.microsoft.com/office/drawing/2014/main" id="{A08DA94B-AD1F-41D0-B11C-0E7BE04A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7F4"/>
                </a:solidFill>
              </a:defRPr>
            </a:pPr>
            <a:r>
              <a:rPr sz="2400" b="1">
                <a:solidFill>
                  <a:srgbClr val="F7F7F4"/>
                </a:solidFill>
              </a:rPr>
              <a:t>Экспертиза живёт в кликах диспетчера,</a:t>
            </a:r>
          </a:p>
          <a:p xmlns:a="http://schemas.openxmlformats.org/drawingml/2006/main">
            <a:pPr algn="l">
              <a:defRPr sz="2400" b="1">
                <a:solidFill>
                  <a:srgbClr val="F7F7F4"/>
                </a:solidFill>
              </a:defRPr>
            </a:pPr>
            <a:r>
              <a:rPr sz="2400" b="1">
                <a:solidFill>
                  <a:srgbClr val="F7F7F4"/>
                </a:solidFill>
              </a:rPr>
              <a:t>а не в формальных инструкциях.</a:t>
            </a:r>
          </a:p>
        </p:txBody>
      </p:sp>
      <p:sp>
        <p:nvSpPr>
          <p:cNvPr id="6" name="text-12">
            <a:extLst xmlns:a="http://schemas.openxmlformats.org/drawingml/2006/main">
              <a:ext uri="{FF2B5EF4-FFF2-40B4-BE49-F238E27FC236}">
                <a16:creationId xmlns:a16="http://schemas.microsoft.com/office/drawing/2014/main" id="{D7DF90FC-47A3-4539-B670-BA871EE2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0C8"/>
                </a:solidFill>
              </a:defRPr>
            </a:pPr>
            <a:r>
              <a:rPr sz="1500" b="0">
                <a:solidFill>
                  <a:srgbClr val="B7C0C8"/>
                </a:solidFill>
              </a:rPr>
              <a:t>Из-за этого невозможно уверенно масштабировать процессы и выбирать, что автоматизировать первым.</a:t>
            </a:r>
          </a:p>
        </p:txBody>
      </p:sp>
      <p:sp>
        <p:nvSpPr>
          <p:cNvPr id="7" name="box-13">
            <a:extLst xmlns:a="http://schemas.openxmlformats.org/drawingml/2006/main">
              <a:ext uri="{FF2B5EF4-FFF2-40B4-BE49-F238E27FC236}">
                <a16:creationId xmlns:a16="http://schemas.microsoft.com/office/drawing/2014/main" id="{79219258-E55F-4CA7-8831-E421738E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00200"/>
            <a:ext cx="4591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8" name="text-14">
            <a:extLst xmlns:a="http://schemas.openxmlformats.org/drawingml/2006/main">
              <a:ext uri="{FF2B5EF4-FFF2-40B4-BE49-F238E27FC236}">
                <a16:creationId xmlns:a16="http://schemas.microsoft.com/office/drawing/2014/main" id="{90157270-0E81-4F60-9787-8CCD9AC7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90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C7E3"/>
                </a:solidFill>
              </a:defRPr>
            </a:pPr>
            <a:r>
              <a:rPr sz="1350" b="1">
                <a:solidFill>
                  <a:srgbClr val="79C7E3"/>
                </a:solidFill>
              </a:rPr>
              <a:t>01</a:t>
            </a:r>
          </a:p>
        </p:txBody>
      </p:sp>
      <p:sp>
        <p:nvSpPr>
          <p:cNvPr id="9" name="text-15">
            <a:extLst xmlns:a="http://schemas.openxmlformats.org/drawingml/2006/main">
              <a:ext uri="{FF2B5EF4-FFF2-40B4-BE49-F238E27FC236}">
                <a16:creationId xmlns:a16="http://schemas.microsoft.com/office/drawing/2014/main" id="{94280FD7-1D82-4C70-B5D6-120CC390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71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4"/>
                </a:solidFill>
              </a:defRPr>
            </a:pPr>
            <a:r>
              <a:rPr sz="1650" b="1">
                <a:solidFill>
                  <a:srgbClr val="F7F7F4"/>
                </a:solidFill>
              </a:rPr>
              <a:t>Дорогое обучение</a:t>
            </a:r>
          </a:p>
        </p:txBody>
      </p:sp>
      <p:sp>
        <p:nvSpPr>
          <p:cNvPr id="10" name="text-16">
            <a:extLst xmlns:a="http://schemas.openxmlformats.org/drawingml/2006/main">
              <a:ext uri="{FF2B5EF4-FFF2-40B4-BE49-F238E27FC236}">
                <a16:creationId xmlns:a16="http://schemas.microsoft.com/office/drawing/2014/main" id="{AC21AC68-3139-4022-8CF6-DDED1F8E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C8"/>
                </a:solidFill>
              </a:defRPr>
            </a:pPr>
            <a:r>
              <a:rPr sz="1200" b="0">
                <a:solidFill>
                  <a:srgbClr val="B7C0C8"/>
                </a:solidFill>
              </a:rPr>
              <a:t>Новичок перенимает практику через наблюдение и ошибки.</a:t>
            </a:r>
          </a:p>
        </p:txBody>
      </p:sp>
      <p:sp>
        <p:nvSpPr>
          <p:cNvPr id="11" name="box-17">
            <a:extLst xmlns:a="http://schemas.openxmlformats.org/drawingml/2006/main">
              <a:ext uri="{FF2B5EF4-FFF2-40B4-BE49-F238E27FC236}">
                <a16:creationId xmlns:a16="http://schemas.microsoft.com/office/drawing/2014/main" id="{7597046D-07CC-403A-BB9F-E85F928A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33700"/>
            <a:ext cx="4591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12" name="text-18">
            <a:extLst xmlns:a="http://schemas.openxmlformats.org/drawingml/2006/main">
              <a:ext uri="{FF2B5EF4-FFF2-40B4-BE49-F238E27FC236}">
                <a16:creationId xmlns:a16="http://schemas.microsoft.com/office/drawing/2014/main" id="{8AF2DEFD-32DD-4FE9-A33B-F7A2A9E2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24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C7E3"/>
                </a:solidFill>
              </a:defRPr>
            </a:pPr>
            <a:r>
              <a:rPr sz="1350" b="1">
                <a:solidFill>
                  <a:srgbClr val="79C7E3"/>
                </a:solidFill>
              </a:rPr>
              <a:t>02</a:t>
            </a:r>
          </a:p>
        </p:txBody>
      </p:sp>
      <p:sp>
        <p:nvSpPr>
          <p:cNvPr id="13" name="text-19">
            <a:extLst xmlns:a="http://schemas.openxmlformats.org/drawingml/2006/main">
              <a:ext uri="{FF2B5EF4-FFF2-40B4-BE49-F238E27FC236}">
                <a16:creationId xmlns:a16="http://schemas.microsoft.com/office/drawing/2014/main" id="{728E7E28-8434-4EDA-AB91-C989DD8A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4"/>
                </a:solidFill>
              </a:defRPr>
            </a:pPr>
            <a:r>
              <a:rPr sz="1650" b="1">
                <a:solidFill>
                  <a:srgbClr val="F7F7F4"/>
                </a:solidFill>
              </a:rPr>
              <a:t>Нестабильное качество</a:t>
            </a:r>
          </a:p>
        </p:txBody>
      </p:sp>
      <p:sp>
        <p:nvSpPr>
          <p:cNvPr id="14" name="text-20">
            <a:extLst xmlns:a="http://schemas.openxmlformats.org/drawingml/2006/main">
              <a:ext uri="{FF2B5EF4-FFF2-40B4-BE49-F238E27FC236}">
                <a16:creationId xmlns:a16="http://schemas.microsoft.com/office/drawing/2014/main" id="{F4C815E7-C802-4A32-8071-DC3E5D9C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C8"/>
                </a:solidFill>
              </a:defRPr>
            </a:pPr>
            <a:r>
              <a:rPr sz="1200" b="0">
                <a:solidFill>
                  <a:srgbClr val="B7C0C8"/>
                </a:solidFill>
              </a:rPr>
              <a:t>Одинаковые ситуации обрабатываются разными последовательностями.</a:t>
            </a:r>
          </a:p>
        </p:txBody>
      </p:sp>
      <p:sp>
        <p:nvSpPr>
          <p:cNvPr id="15" name="box-21">
            <a:extLst xmlns:a="http://schemas.openxmlformats.org/drawingml/2006/main">
              <a:ext uri="{FF2B5EF4-FFF2-40B4-BE49-F238E27FC236}">
                <a16:creationId xmlns:a16="http://schemas.microsoft.com/office/drawing/2014/main" id="{DFBCC3FC-4CB3-4F42-A9BC-10E8D970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4591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16" name="text-22">
            <a:extLst xmlns:a="http://schemas.openxmlformats.org/drawingml/2006/main">
              <a:ext uri="{FF2B5EF4-FFF2-40B4-BE49-F238E27FC236}">
                <a16:creationId xmlns:a16="http://schemas.microsoft.com/office/drawing/2014/main" id="{209F319D-D20E-441B-BE56-8BFA06CC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57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C7E3"/>
                </a:solidFill>
              </a:defRPr>
            </a:pPr>
            <a:r>
              <a:rPr sz="1350" b="1">
                <a:solidFill>
                  <a:srgbClr val="79C7E3"/>
                </a:solidFill>
              </a:rPr>
              <a:t>03</a:t>
            </a:r>
          </a:p>
        </p:txBody>
      </p:sp>
      <p:sp>
        <p:nvSpPr>
          <p:cNvPr id="17" name="text-23">
            <a:extLst xmlns:a="http://schemas.openxmlformats.org/drawingml/2006/main">
              <a:ext uri="{FF2B5EF4-FFF2-40B4-BE49-F238E27FC236}">
                <a16:creationId xmlns:a16="http://schemas.microsoft.com/office/drawing/2014/main" id="{56038A59-DF41-4CF0-836C-8A8AB46B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38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4"/>
                </a:solidFill>
              </a:defRPr>
            </a:pPr>
            <a:r>
              <a:rPr sz="1650" b="1">
                <a:solidFill>
                  <a:srgbClr val="F7F7F4"/>
                </a:solidFill>
              </a:rPr>
              <a:t>Автоматизация вслепую</a:t>
            </a:r>
          </a:p>
        </p:txBody>
      </p:sp>
      <p:sp>
        <p:nvSpPr>
          <p:cNvPr id="18" name="text-24">
            <a:extLst xmlns:a="http://schemas.openxmlformats.org/drawingml/2006/main">
              <a:ext uri="{FF2B5EF4-FFF2-40B4-BE49-F238E27FC236}">
                <a16:creationId xmlns:a16="http://schemas.microsoft.com/office/drawing/2014/main" id="{92A52B02-D249-4BF3-BD21-238FB9C9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815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C8"/>
                </a:solidFill>
              </a:defRPr>
            </a:pPr>
            <a:r>
              <a:rPr sz="1200" b="0">
                <a:solidFill>
                  <a:srgbClr val="B7C0C8"/>
                </a:solidFill>
              </a:rPr>
              <a:t>Нет частоты, длительности и данных о ручных проверках.</a:t>
            </a:r>
          </a:p>
        </p:txBody>
      </p:sp>
      <p:sp>
        <p:nvSpPr>
          <p:cNvPr id="19" name="box-25">
            <a:extLst xmlns:a="http://schemas.openxmlformats.org/drawingml/2006/main">
              <a:ext uri="{FF2B5EF4-FFF2-40B4-BE49-F238E27FC236}">
                <a16:creationId xmlns:a16="http://schemas.microsoft.com/office/drawing/2014/main" id="{83F98A5C-7E98-404D-A4BE-F96D8ABA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5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6">
            <a:extLst xmlns:a="http://schemas.openxmlformats.org/drawingml/2006/main">
              <a:ext uri="{FF2B5EF4-FFF2-40B4-BE49-F238E27FC236}">
                <a16:creationId xmlns:a16="http://schemas.microsoft.com/office/drawing/2014/main" id="{54D316DF-1D1D-4F29-962A-BBC89601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C7E3"/>
                </a:solidFill>
              </a:defRPr>
            </a:pPr>
            <a:r>
              <a:rPr sz="1350" b="1">
                <a:solidFill>
                  <a:srgbClr val="79C7E3"/>
                </a:solidFill>
              </a:rPr>
              <a:t>Цель</a:t>
            </a:r>
          </a:p>
        </p:txBody>
      </p:sp>
      <p:sp>
        <p:nvSpPr>
          <p:cNvPr id="21" name="text-27">
            <a:extLst xmlns:a="http://schemas.openxmlformats.org/drawingml/2006/main">
              <a:ext uri="{FF2B5EF4-FFF2-40B4-BE49-F238E27FC236}">
                <a16:creationId xmlns:a16="http://schemas.microsoft.com/office/drawing/2014/main" id="{CDFEF2B9-A6F6-4A93-8220-C124520E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4"/>
                </a:solidFill>
              </a:defRPr>
            </a:pPr>
            <a:r>
              <a:rPr sz="1650" b="1">
                <a:solidFill>
                  <a:srgbClr val="F7F7F4"/>
                </a:solidFill>
              </a:rPr>
              <a:t>сделать реальные рабочие сценарии измеримыми и проверяемыми</a:t>
            </a:r>
          </a:p>
        </p:txBody>
      </p:sp>
    </p:spTree>
    <p:extLst>
      <p:ext uri="{BB962C8B-B14F-4D97-AF65-F5344CB8AC3E}">
        <p14:creationId xmlns:p14="http://schemas.microsoft.com/office/powerpoint/2010/main" val="14553007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52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28">
            <a:extLst xmlns:a="http://schemas.openxmlformats.org/drawingml/2006/main">
              <a:ext uri="{FF2B5EF4-FFF2-40B4-BE49-F238E27FC236}">
                <a16:creationId xmlns:a16="http://schemas.microsoft.com/office/drawing/2014/main" id="{F70E6E6C-8C8F-4935-A201-0BCC18F8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DISPATCHER INTELLIGENCE</a:t>
            </a:r>
          </a:p>
        </p:txBody>
      </p:sp>
      <p:sp>
        <p:nvSpPr>
          <p:cNvPr id="2" name="text-29">
            <a:extLst xmlns:a="http://schemas.openxmlformats.org/drawingml/2006/main">
              <a:ext uri="{FF2B5EF4-FFF2-40B4-BE49-F238E27FC236}">
                <a16:creationId xmlns:a16="http://schemas.microsoft.com/office/drawing/2014/main" id="{1CA7F3D5-7DD7-4FF9-A2C7-CB4DE276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4"/>
                </a:solidFill>
              </a:defRPr>
            </a:pPr>
            <a:r>
              <a:rPr sz="2850" b="1">
                <a:solidFill>
                  <a:srgbClr val="F7F7F4"/>
                </a:solidFill>
              </a:rPr>
              <a:t>Как работает система</a:t>
            </a:r>
          </a:p>
        </p:txBody>
      </p:sp>
      <p:sp>
        <p:nvSpPr>
          <p:cNvPr id="3" name="box-30">
            <a:extLst xmlns:a="http://schemas.openxmlformats.org/drawingml/2006/main">
              <a:ext uri="{FF2B5EF4-FFF2-40B4-BE49-F238E27FC236}">
                <a16:creationId xmlns:a16="http://schemas.microsoft.com/office/drawing/2014/main" id="{79897354-FA82-4D61-9336-32077926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31">
            <a:extLst xmlns:a="http://schemas.openxmlformats.org/drawingml/2006/main">
              <a:ext uri="{FF2B5EF4-FFF2-40B4-BE49-F238E27FC236}">
                <a16:creationId xmlns:a16="http://schemas.microsoft.com/office/drawing/2014/main" id="{26F3D226-DF99-4475-85F0-3D29861F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C0C8"/>
                </a:solidFill>
              </a:defRPr>
            </a:pPr>
            <a:r>
              <a:rPr sz="825" b="1">
                <a:solidFill>
                  <a:srgbClr val="B7C0C8"/>
                </a:solidFill>
              </a:rPr>
              <a:t>03</a:t>
            </a:r>
          </a:p>
        </p:txBody>
      </p:sp>
      <p:sp>
        <p:nvSpPr>
          <p:cNvPr id="5" name="box-32">
            <a:extLst xmlns:a="http://schemas.openxmlformats.org/drawingml/2006/main">
              <a:ext uri="{FF2B5EF4-FFF2-40B4-BE49-F238E27FC236}">
                <a16:creationId xmlns:a16="http://schemas.microsoft.com/office/drawing/2014/main" id="{4B284A5B-9618-4C80-A64C-36D82BC7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333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6" name="text-33">
            <a:extLst xmlns:a="http://schemas.openxmlformats.org/drawingml/2006/main">
              <a:ext uri="{FF2B5EF4-FFF2-40B4-BE49-F238E27FC236}">
                <a16:creationId xmlns:a16="http://schemas.microsoft.com/office/drawing/2014/main" id="{310B41C5-E587-48F4-ABBA-C047DCE5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9C7E3"/>
                </a:solidFill>
              </a:defRPr>
            </a:pPr>
            <a:r>
              <a:rPr sz="1200" b="1">
                <a:solidFill>
                  <a:srgbClr val="79C7E3"/>
                </a:solidFill>
              </a:rPr>
              <a:t>01</a:t>
            </a:r>
          </a:p>
        </p:txBody>
      </p:sp>
      <p:sp>
        <p:nvSpPr>
          <p:cNvPr id="7" name="text-34">
            <a:extLst xmlns:a="http://schemas.openxmlformats.org/drawingml/2006/main">
              <a:ext uri="{FF2B5EF4-FFF2-40B4-BE49-F238E27FC236}">
                <a16:creationId xmlns:a16="http://schemas.microsoft.com/office/drawing/2014/main" id="{3A9F950D-8645-409C-9FCF-1EEAC8D8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8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4"/>
                </a:solidFill>
              </a:defRPr>
            </a:pPr>
            <a:r>
              <a:rPr sz="1725" b="1">
                <a:solidFill>
                  <a:srgbClr val="F7F7F4"/>
                </a:solidFill>
              </a:rPr>
              <a:t>Запись экрана</a:t>
            </a:r>
          </a:p>
        </p:txBody>
      </p:sp>
      <p:sp>
        <p:nvSpPr>
          <p:cNvPr id="8" name="text-35">
            <a:extLst xmlns:a="http://schemas.openxmlformats.org/drawingml/2006/main">
              <a:ext uri="{FF2B5EF4-FFF2-40B4-BE49-F238E27FC236}">
                <a16:creationId xmlns:a16="http://schemas.microsoft.com/office/drawing/2014/main" id="{1346DC53-40BA-4949-A1EE-B8523DA7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288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C8"/>
                </a:solidFill>
              </a:defRPr>
            </a:pPr>
            <a:r>
              <a:rPr sz="1200" b="0">
                <a:solidFill>
                  <a:srgbClr val="B7C0C8"/>
                </a:solidFill>
              </a:rPr>
              <a:t>видео рабочей сессии</a:t>
            </a:r>
          </a:p>
        </p:txBody>
      </p:sp>
      <p:sp>
        <p:nvSpPr>
          <p:cNvPr id="9" name="text-36">
            <a:extLst xmlns:a="http://schemas.openxmlformats.org/drawingml/2006/main">
              <a:ext uri="{FF2B5EF4-FFF2-40B4-BE49-F238E27FC236}">
                <a16:creationId xmlns:a16="http://schemas.microsoft.com/office/drawing/2014/main" id="{4E524FAC-172C-4BBE-B3A4-D4CBE234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145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9C7E3"/>
                </a:solidFill>
              </a:defRPr>
            </a:pPr>
            <a:r>
              <a:rPr sz="1950" b="1">
                <a:solidFill>
                  <a:srgbClr val="79C7E3"/>
                </a:solidFill>
              </a:rPr>
              <a:t>→</a:t>
            </a:r>
          </a:p>
        </p:txBody>
      </p:sp>
      <p:sp>
        <p:nvSpPr>
          <p:cNvPr id="10" name="box-37">
            <a:extLst xmlns:a="http://schemas.openxmlformats.org/drawingml/2006/main">
              <a:ext uri="{FF2B5EF4-FFF2-40B4-BE49-F238E27FC236}">
                <a16:creationId xmlns:a16="http://schemas.microsoft.com/office/drawing/2014/main" id="{EA0A60FA-8E28-4ED7-8941-83DB8673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333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11" name="text-38">
            <a:extLst xmlns:a="http://schemas.openxmlformats.org/drawingml/2006/main">
              <a:ext uri="{FF2B5EF4-FFF2-40B4-BE49-F238E27FC236}">
                <a16:creationId xmlns:a16="http://schemas.microsoft.com/office/drawing/2014/main" id="{C3774C95-2157-4979-A159-6D37A1BC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9C7E3"/>
                </a:solidFill>
              </a:defRPr>
            </a:pPr>
            <a:r>
              <a:rPr sz="1200" b="1">
                <a:solidFill>
                  <a:srgbClr val="79C7E3"/>
                </a:solidFill>
              </a:rPr>
              <a:t>02</a:t>
            </a:r>
          </a:p>
        </p:txBody>
      </p:sp>
      <p:sp>
        <p:nvSpPr>
          <p:cNvPr id="12" name="text-39">
            <a:extLst xmlns:a="http://schemas.openxmlformats.org/drawingml/2006/main">
              <a:ext uri="{FF2B5EF4-FFF2-40B4-BE49-F238E27FC236}">
                <a16:creationId xmlns:a16="http://schemas.microsoft.com/office/drawing/2014/main" id="{551C65DA-0942-4785-A830-381DBF69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28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4"/>
                </a:solidFill>
              </a:defRPr>
            </a:pPr>
            <a:r>
              <a:rPr sz="1725" b="1">
                <a:solidFill>
                  <a:srgbClr val="F7F7F4"/>
                </a:solidFill>
              </a:rPr>
              <a:t>Gemini</a:t>
            </a:r>
          </a:p>
        </p:txBody>
      </p:sp>
      <p:sp>
        <p:nvSpPr>
          <p:cNvPr id="13" name="text-40">
            <a:extLst xmlns:a="http://schemas.openxmlformats.org/drawingml/2006/main">
              <a:ext uri="{FF2B5EF4-FFF2-40B4-BE49-F238E27FC236}">
                <a16:creationId xmlns:a16="http://schemas.microsoft.com/office/drawing/2014/main" id="{B8F73110-0CB2-4439-A89F-72D19803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288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C8"/>
                </a:solidFill>
              </a:defRPr>
            </a:pPr>
            <a:r>
              <a:rPr sz="1200" b="0">
                <a:solidFill>
                  <a:srgbClr val="B7C0C8"/>
                </a:solidFill>
              </a:rPr>
              <a:t>наблюдения и контекст</a:t>
            </a:r>
          </a:p>
        </p:txBody>
      </p:sp>
      <p:sp>
        <p:nvSpPr>
          <p:cNvPr id="14" name="text-41">
            <a:extLst xmlns:a="http://schemas.openxmlformats.org/drawingml/2006/main">
              <a:ext uri="{FF2B5EF4-FFF2-40B4-BE49-F238E27FC236}">
                <a16:creationId xmlns:a16="http://schemas.microsoft.com/office/drawing/2014/main" id="{D3A9CA2F-3DB0-4B23-83AD-27DC9AE0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145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9C7E3"/>
                </a:solidFill>
              </a:defRPr>
            </a:pPr>
            <a:r>
              <a:rPr sz="1950" b="1">
                <a:solidFill>
                  <a:srgbClr val="79C7E3"/>
                </a:solidFill>
              </a:rPr>
              <a:t>→</a:t>
            </a:r>
          </a:p>
        </p:txBody>
      </p:sp>
      <p:sp>
        <p:nvSpPr>
          <p:cNvPr id="15" name="box-42">
            <a:extLst xmlns:a="http://schemas.openxmlformats.org/drawingml/2006/main">
              <a:ext uri="{FF2B5EF4-FFF2-40B4-BE49-F238E27FC236}">
                <a16:creationId xmlns:a16="http://schemas.microsoft.com/office/drawing/2014/main" id="{165AE01D-45E7-4609-9E68-EC8D12D8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3333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16" name="text-43">
            <a:extLst xmlns:a="http://schemas.openxmlformats.org/drawingml/2006/main">
              <a:ext uri="{FF2B5EF4-FFF2-40B4-BE49-F238E27FC236}">
                <a16:creationId xmlns:a16="http://schemas.microsoft.com/office/drawing/2014/main" id="{0391D241-4F64-44D2-805F-CC447993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9C7E3"/>
                </a:solidFill>
              </a:defRPr>
            </a:pPr>
            <a:r>
              <a:rPr sz="1200" b="1">
                <a:solidFill>
                  <a:srgbClr val="79C7E3"/>
                </a:solidFill>
              </a:rPr>
              <a:t>03</a:t>
            </a:r>
          </a:p>
        </p:txBody>
      </p:sp>
      <p:sp>
        <p:nvSpPr>
          <p:cNvPr id="17" name="text-44">
            <a:extLst xmlns:a="http://schemas.openxmlformats.org/drawingml/2006/main">
              <a:ext uri="{FF2B5EF4-FFF2-40B4-BE49-F238E27FC236}">
                <a16:creationId xmlns:a16="http://schemas.microsoft.com/office/drawing/2014/main" id="{781517EF-DB20-499A-8ED6-BE8B85E9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28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4"/>
                </a:solidFill>
              </a:defRPr>
            </a:pPr>
            <a:r>
              <a:rPr sz="1725" b="1">
                <a:solidFill>
                  <a:srgbClr val="F7F7F4"/>
                </a:solidFill>
              </a:rPr>
              <a:t>Нормализация</a:t>
            </a:r>
          </a:p>
        </p:txBody>
      </p:sp>
      <p:sp>
        <p:nvSpPr>
          <p:cNvPr id="18" name="text-45">
            <a:extLst xmlns:a="http://schemas.openxmlformats.org/drawingml/2006/main">
              <a:ext uri="{FF2B5EF4-FFF2-40B4-BE49-F238E27FC236}">
                <a16:creationId xmlns:a16="http://schemas.microsoft.com/office/drawing/2014/main" id="{7C576911-F38A-435A-937E-C4197105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288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C8"/>
                </a:solidFill>
              </a:defRPr>
            </a:pPr>
            <a:r>
              <a:rPr sz="1200" b="0">
                <a:solidFill>
                  <a:srgbClr val="B7C0C8"/>
                </a:solidFill>
              </a:rPr>
              <a:t>канонические действия</a:t>
            </a:r>
          </a:p>
        </p:txBody>
      </p:sp>
      <p:sp>
        <p:nvSpPr>
          <p:cNvPr id="19" name="box-46">
            <a:extLst xmlns:a="http://schemas.openxmlformats.org/drawingml/2006/main">
              <a:ext uri="{FF2B5EF4-FFF2-40B4-BE49-F238E27FC236}">
                <a16:creationId xmlns:a16="http://schemas.microsoft.com/office/drawing/2014/main" id="{56660A31-967F-49BC-9EDD-C9A1E256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3333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4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20" name="text-47">
            <a:extLst xmlns:a="http://schemas.openxmlformats.org/drawingml/2006/main">
              <a:ext uri="{FF2B5EF4-FFF2-40B4-BE49-F238E27FC236}">
                <a16:creationId xmlns:a16="http://schemas.microsoft.com/office/drawing/2014/main" id="{D5CB69CC-885F-4431-AA04-8E0DE3D1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9C7E3"/>
                </a:solidFill>
              </a:defRPr>
            </a:pPr>
            <a:r>
              <a:rPr sz="1200" b="1">
                <a:solidFill>
                  <a:srgbClr val="79C7E3"/>
                </a:solidFill>
              </a:rPr>
              <a:t>04</a:t>
            </a:r>
          </a:p>
        </p:txBody>
      </p:sp>
      <p:sp>
        <p:nvSpPr>
          <p:cNvPr id="21" name="text-48">
            <a:extLst xmlns:a="http://schemas.openxmlformats.org/drawingml/2006/main">
              <a:ext uri="{FF2B5EF4-FFF2-40B4-BE49-F238E27FC236}">
                <a16:creationId xmlns:a16="http://schemas.microsoft.com/office/drawing/2014/main" id="{50AE5ADB-BCF3-4781-8273-CB8B0432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4"/>
                </a:solidFill>
              </a:defRPr>
            </a:pPr>
            <a:r>
              <a:rPr sz="1725" b="1">
                <a:solidFill>
                  <a:srgbClr val="F7F7F4"/>
                </a:solidFill>
              </a:rPr>
              <a:t>Границы</a:t>
            </a:r>
          </a:p>
        </p:txBody>
      </p:sp>
      <p:sp>
        <p:nvSpPr>
          <p:cNvPr id="22" name="text-49">
            <a:extLst xmlns:a="http://schemas.openxmlformats.org/drawingml/2006/main">
              <a:ext uri="{FF2B5EF4-FFF2-40B4-BE49-F238E27FC236}">
                <a16:creationId xmlns:a16="http://schemas.microsoft.com/office/drawing/2014/main" id="{A15663E3-0E9F-4BDC-BA06-6DDA87E3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95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C8"/>
                </a:solidFill>
              </a:defRPr>
            </a:pPr>
            <a:r>
              <a:rPr sz="1200" b="0">
                <a:solidFill>
                  <a:srgbClr val="B7C0C8"/>
                </a:solidFill>
              </a:rPr>
              <a:t>начало и конец сценария</a:t>
            </a:r>
          </a:p>
        </p:txBody>
      </p:sp>
      <p:sp>
        <p:nvSpPr>
          <p:cNvPr id="23" name="text-50">
            <a:extLst xmlns:a="http://schemas.openxmlformats.org/drawingml/2006/main">
              <a:ext uri="{FF2B5EF4-FFF2-40B4-BE49-F238E27FC236}">
                <a16:creationId xmlns:a16="http://schemas.microsoft.com/office/drawing/2014/main" id="{38DEC7CB-F9B2-4749-A2EF-BF873E0F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052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9C7E3"/>
                </a:solidFill>
              </a:defRPr>
            </a:pPr>
            <a:r>
              <a:rPr sz="1950" b="1">
                <a:solidFill>
                  <a:srgbClr val="79C7E3"/>
                </a:solidFill>
              </a:rPr>
              <a:t>→</a:t>
            </a:r>
          </a:p>
        </p:txBody>
      </p:sp>
      <p:sp>
        <p:nvSpPr>
          <p:cNvPr id="24" name="box-51">
            <a:extLst xmlns:a="http://schemas.openxmlformats.org/drawingml/2006/main">
              <a:ext uri="{FF2B5EF4-FFF2-40B4-BE49-F238E27FC236}">
                <a16:creationId xmlns:a16="http://schemas.microsoft.com/office/drawing/2014/main" id="{C837EFEC-E9FF-41C3-A766-A5545150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3333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4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25" name="text-52">
            <a:extLst xmlns:a="http://schemas.openxmlformats.org/drawingml/2006/main">
              <a:ext uri="{FF2B5EF4-FFF2-40B4-BE49-F238E27FC236}">
                <a16:creationId xmlns:a16="http://schemas.microsoft.com/office/drawing/2014/main" id="{C6F72DDD-CED3-4D6A-B17E-EE603F5F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9C7E3"/>
                </a:solidFill>
              </a:defRPr>
            </a:pPr>
            <a:r>
              <a:rPr sz="1200" b="1">
                <a:solidFill>
                  <a:srgbClr val="79C7E3"/>
                </a:solidFill>
              </a:rPr>
              <a:t>05</a:t>
            </a:r>
          </a:p>
        </p:txBody>
      </p:sp>
      <p:sp>
        <p:nvSpPr>
          <p:cNvPr id="26" name="text-53">
            <a:extLst xmlns:a="http://schemas.openxmlformats.org/drawingml/2006/main">
              <a:ext uri="{FF2B5EF4-FFF2-40B4-BE49-F238E27FC236}">
                <a16:creationId xmlns:a16="http://schemas.microsoft.com/office/drawing/2014/main" id="{E4D96144-28C5-4BEE-B41D-C3099BB9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4"/>
                </a:solidFill>
              </a:defRPr>
            </a:pPr>
            <a:r>
              <a:rPr sz="1725" b="1">
                <a:solidFill>
                  <a:srgbClr val="F7F7F4"/>
                </a:solidFill>
              </a:rPr>
              <a:t>Группировка</a:t>
            </a:r>
          </a:p>
        </p:txBody>
      </p:sp>
      <p:sp>
        <p:nvSpPr>
          <p:cNvPr id="27" name="text-54">
            <a:extLst xmlns:a="http://schemas.openxmlformats.org/drawingml/2006/main">
              <a:ext uri="{FF2B5EF4-FFF2-40B4-BE49-F238E27FC236}">
                <a16:creationId xmlns:a16="http://schemas.microsoft.com/office/drawing/2014/main" id="{F8CBF7B5-283D-4DFD-BC33-BAF22919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195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C8"/>
                </a:solidFill>
              </a:defRPr>
            </a:pPr>
            <a:r>
              <a:rPr sz="1200" b="0">
                <a:solidFill>
                  <a:srgbClr val="B7C0C8"/>
                </a:solidFill>
              </a:rPr>
              <a:t>сигнатуры и варианты</a:t>
            </a:r>
          </a:p>
        </p:txBody>
      </p:sp>
      <p:sp>
        <p:nvSpPr>
          <p:cNvPr id="28" name="text-55">
            <a:extLst xmlns:a="http://schemas.openxmlformats.org/drawingml/2006/main">
              <a:ext uri="{FF2B5EF4-FFF2-40B4-BE49-F238E27FC236}">
                <a16:creationId xmlns:a16="http://schemas.microsoft.com/office/drawing/2014/main" id="{AA838F94-FA79-4556-9BC2-01E782BC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052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9C7E3"/>
                </a:solidFill>
              </a:defRPr>
            </a:pPr>
            <a:r>
              <a:rPr sz="1950" b="1">
                <a:solidFill>
                  <a:srgbClr val="79C7E3"/>
                </a:solidFill>
              </a:rPr>
              <a:t>→</a:t>
            </a:r>
          </a:p>
        </p:txBody>
      </p:sp>
      <p:sp>
        <p:nvSpPr>
          <p:cNvPr id="29" name="box-56">
            <a:extLst xmlns:a="http://schemas.openxmlformats.org/drawingml/2006/main">
              <a:ext uri="{FF2B5EF4-FFF2-40B4-BE49-F238E27FC236}">
                <a16:creationId xmlns:a16="http://schemas.microsoft.com/office/drawing/2014/main" id="{EB1BB79A-317D-4225-8812-DF9EF6C7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3333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4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30" name="text-57">
            <a:extLst xmlns:a="http://schemas.openxmlformats.org/drawingml/2006/main">
              <a:ext uri="{FF2B5EF4-FFF2-40B4-BE49-F238E27FC236}">
                <a16:creationId xmlns:a16="http://schemas.microsoft.com/office/drawing/2014/main" id="{E239FDAF-967B-4BDC-8D8E-41F9409B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9C7E3"/>
                </a:solidFill>
              </a:defRPr>
            </a:pPr>
            <a:r>
              <a:rPr sz="1200" b="1">
                <a:solidFill>
                  <a:srgbClr val="79C7E3"/>
                </a:solidFill>
              </a:rPr>
              <a:t>06</a:t>
            </a:r>
          </a:p>
        </p:txBody>
      </p:sp>
      <p:sp>
        <p:nvSpPr>
          <p:cNvPr id="31" name="text-58">
            <a:extLst xmlns:a="http://schemas.openxmlformats.org/drawingml/2006/main">
              <a:ext uri="{FF2B5EF4-FFF2-40B4-BE49-F238E27FC236}">
                <a16:creationId xmlns:a16="http://schemas.microsoft.com/office/drawing/2014/main" id="{8E9A99CA-BB08-448A-8724-CE7B70C6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7F4"/>
                </a:solidFill>
              </a:defRPr>
            </a:pPr>
            <a:r>
              <a:rPr sz="1725" b="1">
                <a:solidFill>
                  <a:srgbClr val="F7F7F4"/>
                </a:solidFill>
              </a:rPr>
              <a:t>Отчёт</a:t>
            </a:r>
          </a:p>
        </p:txBody>
      </p:sp>
      <p:sp>
        <p:nvSpPr>
          <p:cNvPr id="32" name="text-59">
            <a:extLst xmlns:a="http://schemas.openxmlformats.org/drawingml/2006/main">
              <a:ext uri="{FF2B5EF4-FFF2-40B4-BE49-F238E27FC236}">
                <a16:creationId xmlns:a16="http://schemas.microsoft.com/office/drawing/2014/main" id="{DB57B2B2-5BEC-4678-B2B8-6461893F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195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C8"/>
                </a:solidFill>
              </a:defRPr>
            </a:pPr>
            <a:r>
              <a:rPr sz="1200" b="0">
                <a:solidFill>
                  <a:srgbClr val="B7C0C8"/>
                </a:solidFill>
              </a:rPr>
              <a:t>метрики, QA, автоматизация</a:t>
            </a:r>
          </a:p>
        </p:txBody>
      </p:sp>
      <p:sp>
        <p:nvSpPr>
          <p:cNvPr id="33" name="box-60">
            <a:extLst xmlns:a="http://schemas.openxmlformats.org/drawingml/2006/main">
              <a:ext uri="{FF2B5EF4-FFF2-40B4-BE49-F238E27FC236}">
                <a16:creationId xmlns:a16="http://schemas.microsoft.com/office/drawing/2014/main" id="{84091B0B-ABE2-435F-8509-A2E2FBB0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0744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79C7E3"/>
            </a:solidFill>
            <a:prstDash val="solid"/>
          </a:ln>
        </p:spPr>
      </p:sp>
      <p:sp>
        <p:nvSpPr>
          <p:cNvPr id="34" name="text-61">
            <a:extLst xmlns:a="http://schemas.openxmlformats.org/drawingml/2006/main">
              <a:ext uri="{FF2B5EF4-FFF2-40B4-BE49-F238E27FC236}">
                <a16:creationId xmlns:a16="http://schemas.microsoft.com/office/drawing/2014/main" id="{F839F372-2664-4614-8BD1-02C351BA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4"/>
                </a:solidFill>
              </a:defRPr>
            </a:pPr>
            <a:r>
              <a:rPr sz="1350" b="1">
                <a:solidFill>
                  <a:srgbClr val="F7F7F4"/>
                </a:solidFill>
              </a:rPr>
              <a:t>AI наблюдает и извлекает факты. Финальные границы, метрики и рейтинг рассчитывает детерминированный Go-код.</a:t>
            </a:r>
          </a:p>
        </p:txBody>
      </p:sp>
    </p:spTree>
    <p:extLst>
      <p:ext uri="{BB962C8B-B14F-4D97-AF65-F5344CB8AC3E}">
        <p14:creationId xmlns:p14="http://schemas.microsoft.com/office/powerpoint/2010/main" val="11574214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52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62">
            <a:extLst xmlns:a="http://schemas.openxmlformats.org/drawingml/2006/main">
              <a:ext uri="{FF2B5EF4-FFF2-40B4-BE49-F238E27FC236}">
                <a16:creationId xmlns:a16="http://schemas.microsoft.com/office/drawing/2014/main" id="{A1BFE8C0-1E57-4922-9DF2-6482AC0C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DISPATCHER INTELLIGENCE</a:t>
            </a:r>
          </a:p>
        </p:txBody>
      </p:sp>
      <p:sp>
        <p:nvSpPr>
          <p:cNvPr id="2" name="text-63">
            <a:extLst xmlns:a="http://schemas.openxmlformats.org/drawingml/2006/main">
              <a:ext uri="{FF2B5EF4-FFF2-40B4-BE49-F238E27FC236}">
                <a16:creationId xmlns:a16="http://schemas.microsoft.com/office/drawing/2014/main" id="{67A2E48C-F017-4BFC-93D4-2C47F08A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4"/>
                </a:solidFill>
              </a:defRPr>
            </a:pPr>
            <a:r>
              <a:rPr sz="2850" b="1">
                <a:solidFill>
                  <a:srgbClr val="F7F7F4"/>
                </a:solidFill>
              </a:rPr>
              <a:t>Видео → каноническое событие</a:t>
            </a:r>
          </a:p>
        </p:txBody>
      </p:sp>
      <p:sp>
        <p:nvSpPr>
          <p:cNvPr id="3" name="box-64">
            <a:extLst xmlns:a="http://schemas.openxmlformats.org/drawingml/2006/main">
              <a:ext uri="{FF2B5EF4-FFF2-40B4-BE49-F238E27FC236}">
                <a16:creationId xmlns:a16="http://schemas.microsoft.com/office/drawing/2014/main" id="{41636DFC-7683-4012-9812-148AD297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5">
            <a:extLst xmlns:a="http://schemas.openxmlformats.org/drawingml/2006/main">
              <a:ext uri="{FF2B5EF4-FFF2-40B4-BE49-F238E27FC236}">
                <a16:creationId xmlns:a16="http://schemas.microsoft.com/office/drawing/2014/main" id="{4613B63C-AFFC-4AF4-9E82-3EFF7AEB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C0C8"/>
                </a:solidFill>
              </a:defRPr>
            </a:pPr>
            <a:r>
              <a:rPr sz="825" b="1">
                <a:solidFill>
                  <a:srgbClr val="B7C0C8"/>
                </a:solidFill>
              </a:rPr>
              <a:t>04</a:t>
            </a:r>
          </a:p>
        </p:txBody>
      </p:sp>
      <p:sp>
        <p:nvSpPr>
          <p:cNvPr id="5" name="box-66">
            <a:extLst xmlns:a="http://schemas.openxmlformats.org/drawingml/2006/main">
              <a:ext uri="{FF2B5EF4-FFF2-40B4-BE49-F238E27FC236}">
                <a16:creationId xmlns:a16="http://schemas.microsoft.com/office/drawing/2014/main" id="{889E40C7-3996-44F2-B298-3197F7CE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06755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6af6706d148bf"/>
          <a:srcRect xmlns:a="http://schemas.openxmlformats.org/drawingml/2006/main" l="0" t="6319" r="0" b="63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6762750" cy="4343400"/>
          </a:xfrm>
          <a:prstGeom xmlns:a="http://schemas.openxmlformats.org/drawingml/2006/main" prst="rect">
            <a:avLst/>
          </a:prstGeom>
        </p:spPr>
      </p:pic>
      <p:sp>
        <p:nvSpPr>
          <p:cNvPr id="7" name="text-67">
            <a:extLst xmlns:a="http://schemas.openxmlformats.org/drawingml/2006/main">
              <a:ext uri="{FF2B5EF4-FFF2-40B4-BE49-F238E27FC236}">
                <a16:creationId xmlns:a16="http://schemas.microsoft.com/office/drawing/2014/main" id="{50AB1CF3-A99D-4F4D-B854-A5436288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57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9C7E3"/>
                </a:solidFill>
              </a:defRPr>
            </a:pPr>
            <a:r>
              <a:rPr sz="1200" b="1">
                <a:solidFill>
                  <a:srgbClr val="79C7E3"/>
                </a:solidFill>
              </a:rPr>
              <a:t>Пример</a:t>
            </a:r>
          </a:p>
        </p:txBody>
      </p:sp>
      <p:sp>
        <p:nvSpPr>
          <p:cNvPr id="8" name="text-68">
            <a:extLst xmlns:a="http://schemas.openxmlformats.org/drawingml/2006/main">
              <a:ext uri="{FF2B5EF4-FFF2-40B4-BE49-F238E27FC236}">
                <a16:creationId xmlns:a16="http://schemas.microsoft.com/office/drawing/2014/main" id="{D0648161-63C7-4B7D-A0E7-D9783F19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193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4"/>
                </a:solidFill>
              </a:defRPr>
            </a:pPr>
            <a:r>
              <a:rPr sz="1650" b="1">
                <a:solidFill>
                  <a:srgbClr val="F7F7F4"/>
                </a:solidFill>
              </a:rPr>
              <a:t>«Диспетчер открыл заказ 1022»</a:t>
            </a:r>
          </a:p>
        </p:txBody>
      </p:sp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FEEAFADE-F079-43B0-B203-83C7B966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9C7E3"/>
                </a:solidFill>
              </a:defRPr>
            </a:pPr>
            <a:r>
              <a:rPr sz="2100" b="1">
                <a:solidFill>
                  <a:srgbClr val="79C7E3"/>
                </a:solidFill>
              </a:rPr>
              <a:t>↓</a:t>
            </a:r>
          </a:p>
        </p:txBody>
      </p:sp>
      <p:sp>
        <p:nvSpPr>
          <p:cNvPr id="10" name="box-70">
            <a:extLst xmlns:a="http://schemas.openxmlformats.org/drawingml/2006/main">
              <a:ext uri="{FF2B5EF4-FFF2-40B4-BE49-F238E27FC236}">
                <a16:creationId xmlns:a16="http://schemas.microsoft.com/office/drawing/2014/main" id="{79212950-C631-4886-A6AA-3FAC74A9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1962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79C7E3"/>
            </a:solidFill>
            <a:prstDash val="solid"/>
          </a:ln>
        </p:spPr>
      </p:sp>
      <p:sp>
        <p:nvSpPr>
          <p:cNvPr id="11" name="text-71">
            <a:extLst xmlns:a="http://schemas.openxmlformats.org/drawingml/2006/main">
              <a:ext uri="{FF2B5EF4-FFF2-40B4-BE49-F238E27FC236}">
                <a16:creationId xmlns:a16="http://schemas.microsoft.com/office/drawing/2014/main" id="{63C7CDF9-2FE8-4C75-9564-4DD9D2D0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33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OPEN_ORDER</a:t>
            </a:r>
          </a:p>
        </p:txBody>
      </p:sp>
      <p:sp>
        <p:nvSpPr>
          <p:cNvPr id="12" name="text-72">
            <a:extLst xmlns:a="http://schemas.openxmlformats.org/drawingml/2006/main">
              <a:ext uri="{FF2B5EF4-FFF2-40B4-BE49-F238E27FC236}">
                <a16:creationId xmlns:a16="http://schemas.microsoft.com/office/drawing/2014/main" id="{852AF1D7-9C12-44EF-BECD-3C0C81B3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2724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0C8"/>
                </a:solidFill>
              </a:defRPr>
            </a:pPr>
            <a:r>
              <a:rPr sz="1275" b="0">
                <a:solidFill>
                  <a:srgbClr val="B7C0C8"/>
                </a:solidFill>
              </a:rPr>
              <a:t>timestamp: 38.0 s</a:t>
            </a:r>
          </a:p>
          <a:p xmlns:a="http://schemas.openxmlformats.org/drawingml/2006/main">
            <a:pPr algn="ctr">
              <a:defRPr sz="1275" b="0">
                <a:solidFill>
                  <a:srgbClr val="B7C0C8"/>
                </a:solidFill>
              </a:defRPr>
            </a:pPr>
            <a:r>
              <a:rPr sz="1275" b="0">
                <a:solidFill>
                  <a:srgbClr val="B7C0C8"/>
                </a:solidFill>
              </a:rPr>
              <a:t>entity: order/1022</a:t>
            </a:r>
          </a:p>
          <a:p xmlns:a="http://schemas.openxmlformats.org/drawingml/2006/main">
            <a:pPr algn="ctr">
              <a:defRPr sz="1275" b="0">
                <a:solidFill>
                  <a:srgbClr val="B7C0C8"/>
                </a:solidFill>
              </a:defRPr>
            </a:pPr>
            <a:r>
              <a:rPr sz="1275" b="0">
                <a:solidFill>
                  <a:srgbClr val="B7C0C8"/>
                </a:solidFill>
              </a:rPr>
              <a:t>confidence: 90%</a:t>
            </a:r>
          </a:p>
        </p:txBody>
      </p:sp>
      <p:sp>
        <p:nvSpPr>
          <p:cNvPr id="13" name="box-73">
            <a:extLst xmlns:a="http://schemas.openxmlformats.org/drawingml/2006/main">
              <a:ext uri="{FF2B5EF4-FFF2-40B4-BE49-F238E27FC236}">
                <a16:creationId xmlns:a16="http://schemas.microsoft.com/office/drawing/2014/main" id="{F7153B89-C240-4952-8148-7666919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386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5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74">
            <a:extLst xmlns:a="http://schemas.openxmlformats.org/drawingml/2006/main">
              <a:ext uri="{FF2B5EF4-FFF2-40B4-BE49-F238E27FC236}">
                <a16:creationId xmlns:a16="http://schemas.microsoft.com/office/drawing/2014/main" id="{D66CE885-5320-4C27-906F-25D68128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67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9C7E3"/>
                </a:solidFill>
              </a:defRPr>
            </a:pPr>
            <a:r>
              <a:rPr sz="1200" b="1">
                <a:solidFill>
                  <a:srgbClr val="79C7E3"/>
                </a:solidFill>
              </a:rPr>
              <a:t>Последовательность</a:t>
            </a:r>
          </a:p>
        </p:txBody>
      </p:sp>
      <p:sp>
        <p:nvSpPr>
          <p:cNvPr id="15" name="text-75">
            <a:extLst xmlns:a="http://schemas.openxmlformats.org/drawingml/2006/main">
              <a:ext uri="{FF2B5EF4-FFF2-40B4-BE49-F238E27FC236}">
                <a16:creationId xmlns:a16="http://schemas.microsoft.com/office/drawing/2014/main" id="{8C9526E6-D411-4B13-80C6-B16F965A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292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7F4"/>
                </a:solidFill>
              </a:defRPr>
            </a:pPr>
            <a:r>
              <a:rPr sz="1425" b="1">
                <a:solidFill>
                  <a:srgbClr val="F7F7F4"/>
                </a:solidFill>
              </a:rPr>
              <a:t>OPEN_ORDER → SELECT_DRIVER →</a:t>
            </a:r>
          </a:p>
          <a:p xmlns:a="http://schemas.openxmlformats.org/drawingml/2006/main">
            <a:pPr algn="ctr">
              <a:defRPr sz="1425" b="1">
                <a:solidFill>
                  <a:srgbClr val="F7F7F4"/>
                </a:solidFill>
              </a:defRPr>
            </a:pPr>
            <a:r>
              <a:rPr sz="1425" b="1">
                <a:solidFill>
                  <a:srgbClr val="F7F7F4"/>
                </a:solidFill>
              </a:rPr>
              <a:t>SEND_TO_SELECTED_DRIVER</a:t>
            </a:r>
          </a:p>
        </p:txBody>
      </p:sp>
    </p:spTree>
    <p:extLst>
      <p:ext uri="{BB962C8B-B14F-4D97-AF65-F5344CB8AC3E}">
        <p14:creationId xmlns:p14="http://schemas.microsoft.com/office/powerpoint/2010/main" val="993298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52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6">
            <a:extLst xmlns:a="http://schemas.openxmlformats.org/drawingml/2006/main">
              <a:ext uri="{FF2B5EF4-FFF2-40B4-BE49-F238E27FC236}">
                <a16:creationId xmlns:a16="http://schemas.microsoft.com/office/drawing/2014/main" id="{EE13C832-77BB-454B-8E62-59FDF408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DISPATCHER INTELLIGENCE</a:t>
            </a:r>
          </a:p>
        </p:txBody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6AED545A-440B-4F74-A2C4-A126B18A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4"/>
                </a:solidFill>
              </a:defRPr>
            </a:pPr>
            <a:r>
              <a:rPr sz="2850" b="1">
                <a:solidFill>
                  <a:srgbClr val="F7F7F4"/>
                </a:solidFill>
              </a:rPr>
              <a:t>Пять типовых сценариев</a:t>
            </a:r>
          </a:p>
        </p:txBody>
      </p:sp>
      <p:sp>
        <p:nvSpPr>
          <p:cNvPr id="3" name="box-78">
            <a:extLst xmlns:a="http://schemas.openxmlformats.org/drawingml/2006/main">
              <a:ext uri="{FF2B5EF4-FFF2-40B4-BE49-F238E27FC236}">
                <a16:creationId xmlns:a16="http://schemas.microsoft.com/office/drawing/2014/main" id="{B163D639-1D66-4A63-B470-AE86F197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645FFA73-983F-4478-BD1C-1697AB50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C0C8"/>
                </a:solidFill>
              </a:defRPr>
            </a:pPr>
            <a:r>
              <a:rPr sz="825" b="1">
                <a:solidFill>
                  <a:srgbClr val="B7C0C8"/>
                </a:solidFill>
              </a:rPr>
              <a:t>05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FD8C074E-2FFD-4317-B2D6-59D1D9EA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7E3"/>
                </a:solidFill>
              </a:defRPr>
            </a:pPr>
            <a:r>
              <a:rPr sz="1800" b="1">
                <a:solidFill>
                  <a:srgbClr val="79C7E3"/>
                </a:solidFill>
              </a:rPr>
              <a:t>Проблемные ситуации</a:t>
            </a:r>
          </a:p>
        </p:txBody>
      </p:sp>
      <p:sp>
        <p:nvSpPr>
          <p:cNvPr id="6" name="box-81">
            <a:extLst xmlns:a="http://schemas.openxmlformats.org/drawingml/2006/main">
              <a:ext uri="{FF2B5EF4-FFF2-40B4-BE49-F238E27FC236}">
                <a16:creationId xmlns:a16="http://schemas.microsoft.com/office/drawing/2014/main" id="{02F6BE81-DC22-47E4-B1E5-AD826020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514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7" name="text-82">
            <a:extLst xmlns:a="http://schemas.openxmlformats.org/drawingml/2006/main">
              <a:ext uri="{FF2B5EF4-FFF2-40B4-BE49-F238E27FC236}">
                <a16:creationId xmlns:a16="http://schemas.microsoft.com/office/drawing/2014/main" id="{46877F9B-515F-4D04-A7C7-6D0244A0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9C7E3"/>
                </a:solidFill>
              </a:defRPr>
            </a:pPr>
            <a:r>
              <a:rPr sz="975" b="1">
                <a:solidFill>
                  <a:srgbClr val="79C7E3"/>
                </a:solidFill>
              </a:rPr>
              <a:t>LATE_PICKUP</a:t>
            </a:r>
          </a:p>
        </p:txBody>
      </p:sp>
      <p:sp>
        <p:nvSpPr>
          <p:cNvPr id="8" name="text-83">
            <a:extLst xmlns:a="http://schemas.openxmlformats.org/drawingml/2006/main">
              <a:ext uri="{FF2B5EF4-FFF2-40B4-BE49-F238E27FC236}">
                <a16:creationId xmlns:a16="http://schemas.microsoft.com/office/drawing/2014/main" id="{740A8157-C0C6-4CEA-9D4C-DA9D920F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4"/>
                </a:solidFill>
              </a:defRPr>
            </a:pPr>
            <a:r>
              <a:rPr sz="1650" b="1">
                <a:solidFill>
                  <a:srgbClr val="F7F7F4"/>
                </a:solidFill>
              </a:rPr>
              <a:t>Опоздание на забор</a:t>
            </a:r>
          </a:p>
        </p:txBody>
      </p:sp>
      <p:sp>
        <p:nvSpPr>
          <p:cNvPr id="9" name="text-84">
            <a:extLst xmlns:a="http://schemas.openxmlformats.org/drawingml/2006/main">
              <a:ext uri="{FF2B5EF4-FFF2-40B4-BE49-F238E27FC236}">
                <a16:creationId xmlns:a16="http://schemas.microsoft.com/office/drawing/2014/main" id="{436FC83C-A904-4A12-85F8-4E9BA24C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C0C8"/>
                </a:solidFill>
              </a:defRPr>
            </a:pPr>
            <a:r>
              <a:rPr sz="1050" b="0">
                <a:solidFill>
                  <a:srgbClr val="B7C0C8"/>
                </a:solidFill>
              </a:rPr>
              <a:t>OPEN_ORDER → CHECK → RESOLVE_ISSUE</a:t>
            </a:r>
          </a:p>
        </p:txBody>
      </p:sp>
      <p:sp>
        <p:nvSpPr>
          <p:cNvPr id="10" name="box-85">
            <a:extLst xmlns:a="http://schemas.openxmlformats.org/drawingml/2006/main">
              <a:ext uri="{FF2B5EF4-FFF2-40B4-BE49-F238E27FC236}">
                <a16:creationId xmlns:a16="http://schemas.microsoft.com/office/drawing/2014/main" id="{ACAA53D4-79B8-43CE-B36D-810ADCC6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11" name="text-86">
            <a:extLst xmlns:a="http://schemas.openxmlformats.org/drawingml/2006/main">
              <a:ext uri="{FF2B5EF4-FFF2-40B4-BE49-F238E27FC236}">
                <a16:creationId xmlns:a16="http://schemas.microsoft.com/office/drawing/2014/main" id="{A8C28074-3A72-4E3B-9491-DCED4C88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9C7E3"/>
                </a:solidFill>
              </a:defRPr>
            </a:pPr>
            <a:r>
              <a:rPr sz="975" b="1">
                <a:solidFill>
                  <a:srgbClr val="79C7E3"/>
                </a:solidFill>
              </a:rPr>
              <a:t>UNASSIGNED_COURIER</a:t>
            </a:r>
          </a:p>
        </p:txBody>
      </p:sp>
      <p:sp>
        <p:nvSpPr>
          <p:cNvPr id="12" name="text-87">
            <a:extLst xmlns:a="http://schemas.openxmlformats.org/drawingml/2006/main">
              <a:ext uri="{FF2B5EF4-FFF2-40B4-BE49-F238E27FC236}">
                <a16:creationId xmlns:a16="http://schemas.microsoft.com/office/drawing/2014/main" id="{088908D1-D16F-4F10-838C-877C0357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4"/>
                </a:solidFill>
              </a:defRPr>
            </a:pPr>
            <a:r>
              <a:rPr sz="1650" b="1">
                <a:solidFill>
                  <a:srgbClr val="F7F7F4"/>
                </a:solidFill>
              </a:rPr>
              <a:t>Курьер не назначен</a:t>
            </a:r>
          </a:p>
        </p:txBody>
      </p:sp>
      <p:sp>
        <p:nvSpPr>
          <p:cNvPr id="13" name="text-88">
            <a:extLst xmlns:a="http://schemas.openxmlformats.org/drawingml/2006/main">
              <a:ext uri="{FF2B5EF4-FFF2-40B4-BE49-F238E27FC236}">
                <a16:creationId xmlns:a16="http://schemas.microsoft.com/office/drawing/2014/main" id="{8D2F57C1-7BBD-4A27-B78D-0C9FF000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C0C8"/>
                </a:solidFill>
              </a:defRPr>
            </a:pPr>
            <a:r>
              <a:rPr sz="1050" b="0">
                <a:solidFill>
                  <a:srgbClr val="B7C0C8"/>
                </a:solidFill>
              </a:rPr>
              <a:t>OPEN_ORDER → SELECT_DRIVER → SEND → RESOLVE</a:t>
            </a:r>
          </a:p>
        </p:txBody>
      </p:sp>
      <p:sp>
        <p:nvSpPr>
          <p:cNvPr id="14" name="text-89">
            <a:extLst xmlns:a="http://schemas.openxmlformats.org/drawingml/2006/main">
              <a:ext uri="{FF2B5EF4-FFF2-40B4-BE49-F238E27FC236}">
                <a16:creationId xmlns:a16="http://schemas.microsoft.com/office/drawing/2014/main" id="{96E81890-9BBE-42FF-9BF8-3949095D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7E3"/>
                </a:solidFill>
              </a:defRPr>
            </a:pPr>
            <a:r>
              <a:rPr sz="1800" b="1">
                <a:solidFill>
                  <a:srgbClr val="79C7E3"/>
                </a:solidFill>
              </a:rPr>
              <a:t>Обычные операции</a:t>
            </a:r>
          </a:p>
        </p:txBody>
      </p:sp>
      <p:sp>
        <p:nvSpPr>
          <p:cNvPr id="15" name="box-90">
            <a:extLst xmlns:a="http://schemas.openxmlformats.org/drawingml/2006/main">
              <a:ext uri="{FF2B5EF4-FFF2-40B4-BE49-F238E27FC236}">
                <a16:creationId xmlns:a16="http://schemas.microsoft.com/office/drawing/2014/main" id="{A735681C-0335-4F42-A8E4-E9D63ED1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5448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73B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16" name="text-91">
            <a:extLst xmlns:a="http://schemas.openxmlformats.org/drawingml/2006/main">
              <a:ext uri="{FF2B5EF4-FFF2-40B4-BE49-F238E27FC236}">
                <a16:creationId xmlns:a16="http://schemas.microsoft.com/office/drawing/2014/main" id="{C82E3A71-5EF2-4FCF-A0B6-39A7DED2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CHANGE_DELIVERY_DESTINATION</a:t>
            </a:r>
          </a:p>
        </p:txBody>
      </p:sp>
      <p:sp>
        <p:nvSpPr>
          <p:cNvPr id="17" name="text-92">
            <a:extLst xmlns:a="http://schemas.openxmlformats.org/drawingml/2006/main">
              <a:ext uri="{FF2B5EF4-FFF2-40B4-BE49-F238E27FC236}">
                <a16:creationId xmlns:a16="http://schemas.microsoft.com/office/drawing/2014/main" id="{8B478C28-ED40-427B-A264-A6C2A815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4"/>
                </a:solidFill>
              </a:defRPr>
            </a:pPr>
            <a:r>
              <a:rPr sz="1500" b="1">
                <a:solidFill>
                  <a:srgbClr val="F7F7F4"/>
                </a:solidFill>
              </a:rPr>
              <a:t>Смена точки окончания доставки</a:t>
            </a:r>
          </a:p>
        </p:txBody>
      </p:sp>
      <p:sp>
        <p:nvSpPr>
          <p:cNvPr id="18" name="text-93">
            <a:extLst xmlns:a="http://schemas.openxmlformats.org/drawingml/2006/main">
              <a:ext uri="{FF2B5EF4-FFF2-40B4-BE49-F238E27FC236}">
                <a16:creationId xmlns:a16="http://schemas.microsoft.com/office/drawing/2014/main" id="{204A6B73-BCC4-4F8B-AE5E-4044508F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0C8"/>
                </a:solidFill>
              </a:defRPr>
            </a:pPr>
            <a:r>
              <a:rPr sz="975" b="0">
                <a:solidFill>
                  <a:srgbClr val="B7C0C8"/>
                </a:solidFill>
              </a:rPr>
              <a:t>OPEN_ORDER → EDIT → CHANGE → SAVE</a:t>
            </a:r>
          </a:p>
        </p:txBody>
      </p:sp>
      <p:sp>
        <p:nvSpPr>
          <p:cNvPr id="19" name="box-94">
            <a:extLst xmlns:a="http://schemas.openxmlformats.org/drawingml/2006/main">
              <a:ext uri="{FF2B5EF4-FFF2-40B4-BE49-F238E27FC236}">
                <a16:creationId xmlns:a16="http://schemas.microsoft.com/office/drawing/2014/main" id="{36CF4F34-881F-4A9A-BDC6-95C78A4D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5448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20" name="text-95">
            <a:extLst xmlns:a="http://schemas.openxmlformats.org/drawingml/2006/main">
              <a:ext uri="{FF2B5EF4-FFF2-40B4-BE49-F238E27FC236}">
                <a16:creationId xmlns:a16="http://schemas.microsoft.com/office/drawing/2014/main" id="{728D8E98-EC17-4F37-A137-F2DD5D88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UPDATE_DELIVERY_WINDOW</a:t>
            </a:r>
          </a:p>
        </p:txBody>
      </p:sp>
      <p:sp>
        <p:nvSpPr>
          <p:cNvPr id="21" name="text-96">
            <a:extLst xmlns:a="http://schemas.openxmlformats.org/drawingml/2006/main">
              <a:ext uri="{FF2B5EF4-FFF2-40B4-BE49-F238E27FC236}">
                <a16:creationId xmlns:a16="http://schemas.microsoft.com/office/drawing/2014/main" id="{BA783D8A-AB64-4769-9B88-076EE022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4"/>
                </a:solidFill>
              </a:defRPr>
            </a:pPr>
            <a:r>
              <a:rPr sz="1500" b="1">
                <a:solidFill>
                  <a:srgbClr val="F7F7F4"/>
                </a:solidFill>
              </a:rPr>
              <a:t>Изменение окна доставки</a:t>
            </a:r>
          </a:p>
        </p:txBody>
      </p:sp>
      <p:sp>
        <p:nvSpPr>
          <p:cNvPr id="22" name="text-97">
            <a:extLst xmlns:a="http://schemas.openxmlformats.org/drawingml/2006/main">
              <a:ext uri="{FF2B5EF4-FFF2-40B4-BE49-F238E27FC236}">
                <a16:creationId xmlns:a16="http://schemas.microsoft.com/office/drawing/2014/main" id="{F5214F2E-C20A-405C-BBEC-4A11AD30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0C8"/>
                </a:solidFill>
              </a:defRPr>
            </a:pPr>
            <a:r>
              <a:rPr sz="975" b="0">
                <a:solidFill>
                  <a:srgbClr val="B7C0C8"/>
                </a:solidFill>
              </a:rPr>
              <a:t>OPEN_ORDER → EDIT → CHANGE → SAVE</a:t>
            </a:r>
          </a:p>
        </p:txBody>
      </p:sp>
      <p:sp>
        <p:nvSpPr>
          <p:cNvPr id="23" name="box-98">
            <a:extLst xmlns:a="http://schemas.openxmlformats.org/drawingml/2006/main">
              <a:ext uri="{FF2B5EF4-FFF2-40B4-BE49-F238E27FC236}">
                <a16:creationId xmlns:a16="http://schemas.microsoft.com/office/drawing/2014/main" id="{4395A58E-E3E8-4CEA-A534-E89C1E0D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5448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24" name="text-99">
            <a:extLst xmlns:a="http://schemas.openxmlformats.org/drawingml/2006/main">
              <a:ext uri="{FF2B5EF4-FFF2-40B4-BE49-F238E27FC236}">
                <a16:creationId xmlns:a16="http://schemas.microsoft.com/office/drawing/2014/main" id="{896BD915-6920-470E-976F-903639AC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REASSIGN_COURIER</a:t>
            </a:r>
          </a:p>
        </p:txBody>
      </p:sp>
      <p:sp>
        <p:nvSpPr>
          <p:cNvPr id="25" name="text-100">
            <a:extLst xmlns:a="http://schemas.openxmlformats.org/drawingml/2006/main">
              <a:ext uri="{FF2B5EF4-FFF2-40B4-BE49-F238E27FC236}">
                <a16:creationId xmlns:a16="http://schemas.microsoft.com/office/drawing/2014/main" id="{26E558CF-F3E7-4E59-A427-7767159D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33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4"/>
                </a:solidFill>
              </a:defRPr>
            </a:pPr>
            <a:r>
              <a:rPr sz="1500" b="1">
                <a:solidFill>
                  <a:srgbClr val="F7F7F4"/>
                </a:solidFill>
              </a:rPr>
              <a:t>Переназначение курьера</a:t>
            </a:r>
          </a:p>
        </p:txBody>
      </p:sp>
      <p:sp>
        <p:nvSpPr>
          <p:cNvPr id="26" name="text-101">
            <a:extLst xmlns:a="http://schemas.openxmlformats.org/drawingml/2006/main">
              <a:ext uri="{FF2B5EF4-FFF2-40B4-BE49-F238E27FC236}">
                <a16:creationId xmlns:a16="http://schemas.microsoft.com/office/drawing/2014/main" id="{94BA5008-F2A9-41FB-BB86-F2356C6B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578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0C8"/>
                </a:solidFill>
              </a:defRPr>
            </a:pPr>
            <a:r>
              <a:rPr sz="975" b="0">
                <a:solidFill>
                  <a:srgbClr val="B7C0C8"/>
                </a:solidFill>
              </a:rPr>
              <a:t>OPEN_ORDER → SELECT_DRIVER → SEND</a:t>
            </a:r>
          </a:p>
        </p:txBody>
      </p:sp>
      <p:sp>
        <p:nvSpPr>
          <p:cNvPr id="27" name="box-102">
            <a:extLst xmlns:a="http://schemas.openxmlformats.org/drawingml/2006/main">
              <a:ext uri="{FF2B5EF4-FFF2-40B4-BE49-F238E27FC236}">
                <a16:creationId xmlns:a16="http://schemas.microsoft.com/office/drawing/2014/main" id="{BF6D45E1-45B5-4EB1-92FE-BEB00AE1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79C7E3"/>
            </a:solidFill>
            <a:prstDash val="solid"/>
          </a:ln>
        </p:spPr>
      </p:sp>
      <p:sp>
        <p:nvSpPr>
          <p:cNvPr id="28" name="text-103">
            <a:extLst xmlns:a="http://schemas.openxmlformats.org/drawingml/2006/main">
              <a:ext uri="{FF2B5EF4-FFF2-40B4-BE49-F238E27FC236}">
                <a16:creationId xmlns:a16="http://schemas.microsoft.com/office/drawing/2014/main" id="{733DBF5C-4698-459B-9E8A-2D68EFE8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7F4"/>
                </a:solidFill>
              </a:defRPr>
            </a:pPr>
            <a:r>
              <a:rPr sz="1200" b="1">
                <a:solidFill>
                  <a:srgbClr val="F7F7F4"/>
                </a:solidFill>
              </a:rPr>
              <a:t>Важно: сценарий — это не только решение проблемы, но и повторяемая рабочая операция.</a:t>
            </a:r>
          </a:p>
        </p:txBody>
      </p:sp>
    </p:spTree>
    <p:extLst>
      <p:ext uri="{BB962C8B-B14F-4D97-AF65-F5344CB8AC3E}">
        <p14:creationId xmlns:p14="http://schemas.microsoft.com/office/powerpoint/2010/main" val="17939778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52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104">
            <a:extLst xmlns:a="http://schemas.openxmlformats.org/drawingml/2006/main">
              <a:ext uri="{FF2B5EF4-FFF2-40B4-BE49-F238E27FC236}">
                <a16:creationId xmlns:a16="http://schemas.microsoft.com/office/drawing/2014/main" id="{AA0A03A8-29CD-41A5-868C-1788673D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DISPATCHER INTELLIGENCE</a:t>
            </a:r>
          </a:p>
        </p:txBody>
      </p:sp>
      <p:sp>
        <p:nvSpPr>
          <p:cNvPr id="2" name="text-105">
            <a:extLst xmlns:a="http://schemas.openxmlformats.org/drawingml/2006/main">
              <a:ext uri="{FF2B5EF4-FFF2-40B4-BE49-F238E27FC236}">
                <a16:creationId xmlns:a16="http://schemas.microsoft.com/office/drawing/2014/main" id="{8C2C7798-85EC-48D3-B590-ED21AA8C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4"/>
                </a:solidFill>
              </a:defRPr>
            </a:pPr>
            <a:r>
              <a:rPr sz="2850" b="1">
                <a:solidFill>
                  <a:srgbClr val="F7F7F4"/>
                </a:solidFill>
              </a:rPr>
              <a:t>Метрики и карта сценариев</a:t>
            </a:r>
          </a:p>
        </p:txBody>
      </p:sp>
      <p:sp>
        <p:nvSpPr>
          <p:cNvPr id="3" name="box-106">
            <a:extLst xmlns:a="http://schemas.openxmlformats.org/drawingml/2006/main">
              <a:ext uri="{FF2B5EF4-FFF2-40B4-BE49-F238E27FC236}">
                <a16:creationId xmlns:a16="http://schemas.microsoft.com/office/drawing/2014/main" id="{FFCF6FDF-BE43-41E8-B7D6-06112193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07">
            <a:extLst xmlns:a="http://schemas.openxmlformats.org/drawingml/2006/main">
              <a:ext uri="{FF2B5EF4-FFF2-40B4-BE49-F238E27FC236}">
                <a16:creationId xmlns:a16="http://schemas.microsoft.com/office/drawing/2014/main" id="{E67292C8-4A8C-43A3-85EC-80543325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C0C8"/>
                </a:solidFill>
              </a:defRPr>
            </a:pPr>
            <a:r>
              <a:rPr sz="825" b="1">
                <a:solidFill>
                  <a:srgbClr val="B7C0C8"/>
                </a:solidFill>
              </a:rPr>
              <a:t>06</a:t>
            </a:r>
          </a:p>
        </p:txBody>
      </p:sp>
      <p:sp>
        <p:nvSpPr>
          <p:cNvPr id="5" name="box-108">
            <a:extLst xmlns:a="http://schemas.openxmlformats.org/drawingml/2006/main">
              <a:ext uri="{FF2B5EF4-FFF2-40B4-BE49-F238E27FC236}">
                <a16:creationId xmlns:a16="http://schemas.microsoft.com/office/drawing/2014/main" id="{9BDD8762-7B49-485C-AD3F-A1C2DB80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858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0f5ab9f644fde"/>
          <a:srcRect xmlns:a="http://schemas.openxmlformats.org/drawingml/2006/main" l="0" t="7432" r="0" b="74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14500"/>
            <a:ext cx="6553200" cy="4267200"/>
          </a:xfrm>
          <a:prstGeom xmlns:a="http://schemas.openxmlformats.org/drawingml/2006/main" prst="rect">
            <a:avLst/>
          </a:prstGeom>
        </p:spPr>
      </p:pic>
      <p:sp>
        <p:nvSpPr>
          <p:cNvPr id="7" name="text-109">
            <a:extLst xmlns:a="http://schemas.openxmlformats.org/drawingml/2006/main">
              <a:ext uri="{FF2B5EF4-FFF2-40B4-BE49-F238E27FC236}">
                <a16:creationId xmlns:a16="http://schemas.microsoft.com/office/drawing/2014/main" id="{DF2DECA3-37B7-4C0F-B142-65100275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C7E3"/>
                </a:solidFill>
              </a:defRPr>
            </a:pPr>
            <a:r>
              <a:rPr sz="1500" b="1">
                <a:solidFill>
                  <a:srgbClr val="79C7E3"/>
                </a:solidFill>
              </a:rPr>
              <a:t>Частота</a:t>
            </a:r>
          </a:p>
        </p:txBody>
      </p:sp>
      <p:sp>
        <p:nvSpPr>
          <p:cNvPr id="8" name="text-110">
            <a:extLst xmlns:a="http://schemas.openxmlformats.org/drawingml/2006/main">
              <a:ext uri="{FF2B5EF4-FFF2-40B4-BE49-F238E27FC236}">
                <a16:creationId xmlns:a16="http://schemas.microsoft.com/office/drawing/2014/main" id="{34D158A8-47D3-406B-ABF4-E13699A0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C8"/>
                </a:solidFill>
              </a:defRPr>
            </a:pPr>
            <a:r>
              <a:rPr sz="1200" b="0">
                <a:solidFill>
                  <a:srgbClr val="B7C0C8"/>
                </a:solidFill>
              </a:rPr>
              <a:t>сколько раз повторился сценарий или действие</a:t>
            </a:r>
          </a:p>
        </p:txBody>
      </p:sp>
      <p:sp>
        <p:nvSpPr>
          <p:cNvPr id="9" name="text-111">
            <a:extLst xmlns:a="http://schemas.openxmlformats.org/drawingml/2006/main">
              <a:ext uri="{FF2B5EF4-FFF2-40B4-BE49-F238E27FC236}">
                <a16:creationId xmlns:a16="http://schemas.microsoft.com/office/drawing/2014/main" id="{2D9F81A4-36AB-425A-AC33-07F725B4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C7E3"/>
                </a:solidFill>
              </a:defRPr>
            </a:pPr>
            <a:r>
              <a:rPr sz="1500" b="1">
                <a:solidFill>
                  <a:srgbClr val="79C7E3"/>
                </a:solidFill>
              </a:rPr>
              <a:t>Время</a:t>
            </a:r>
          </a:p>
        </p:txBody>
      </p:sp>
      <p:sp>
        <p:nvSpPr>
          <p:cNvPr id="10" name="text-112">
            <a:extLst xmlns:a="http://schemas.openxmlformats.org/drawingml/2006/main">
              <a:ext uri="{FF2B5EF4-FFF2-40B4-BE49-F238E27FC236}">
                <a16:creationId xmlns:a16="http://schemas.microsoft.com/office/drawing/2014/main" id="{B167350E-D8F9-4D8E-8234-427C5BA0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C8"/>
                </a:solidFill>
              </a:defRPr>
            </a:pPr>
            <a:r>
              <a:rPr sz="1200" b="0">
                <a:solidFill>
                  <a:srgbClr val="B7C0C8"/>
                </a:solidFill>
              </a:rPr>
              <a:t>среднее, медиана и p95 выполнения</a:t>
            </a:r>
          </a:p>
        </p:txBody>
      </p:sp>
      <p:sp>
        <p:nvSpPr>
          <p:cNvPr id="11" name="text-113">
            <a:extLst xmlns:a="http://schemas.openxmlformats.org/drawingml/2006/main">
              <a:ext uri="{FF2B5EF4-FFF2-40B4-BE49-F238E27FC236}">
                <a16:creationId xmlns:a16="http://schemas.microsoft.com/office/drawing/2014/main" id="{36D4F58E-0FBD-49F8-98CE-5F705131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95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C7E3"/>
                </a:solidFill>
              </a:defRPr>
            </a:pPr>
            <a:r>
              <a:rPr sz="1500" b="1">
                <a:solidFill>
                  <a:srgbClr val="79C7E3"/>
                </a:solidFill>
              </a:rPr>
              <a:t>Ручной труд</a:t>
            </a:r>
          </a:p>
        </p:txBody>
      </p:sp>
      <p:sp>
        <p:nvSpPr>
          <p:cNvPr id="12" name="text-114">
            <a:extLst xmlns:a="http://schemas.openxmlformats.org/drawingml/2006/main">
              <a:ext uri="{FF2B5EF4-FFF2-40B4-BE49-F238E27FC236}">
                <a16:creationId xmlns:a16="http://schemas.microsoft.com/office/drawing/2014/main" id="{4DB239CF-D510-4CB5-97FB-E60846E4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00450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C8"/>
                </a:solidFill>
              </a:defRPr>
            </a:pPr>
            <a:r>
              <a:rPr sz="1200" b="0">
                <a:solidFill>
                  <a:srgbClr val="B7C0C8"/>
                </a:solidFill>
              </a:rPr>
              <a:t>проверки, повторные действия, неоднозначности</a:t>
            </a:r>
          </a:p>
        </p:txBody>
      </p:sp>
      <p:sp>
        <p:nvSpPr>
          <p:cNvPr id="13" name="text-115">
            <a:extLst xmlns:a="http://schemas.openxmlformats.org/drawingml/2006/main">
              <a:ext uri="{FF2B5EF4-FFF2-40B4-BE49-F238E27FC236}">
                <a16:creationId xmlns:a16="http://schemas.microsoft.com/office/drawing/2014/main" id="{876C80AB-7711-4831-B975-47479C36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3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C7E3"/>
                </a:solidFill>
              </a:defRPr>
            </a:pPr>
            <a:r>
              <a:rPr sz="1500" b="1">
                <a:solidFill>
                  <a:srgbClr val="79C7E3"/>
                </a:solidFill>
              </a:rPr>
              <a:t>Уверенность</a:t>
            </a:r>
          </a:p>
        </p:txBody>
      </p:sp>
      <p:sp>
        <p:nvSpPr>
          <p:cNvPr id="14" name="text-116">
            <a:extLst xmlns:a="http://schemas.openxmlformats.org/drawingml/2006/main">
              <a:ext uri="{FF2B5EF4-FFF2-40B4-BE49-F238E27FC236}">
                <a16:creationId xmlns:a16="http://schemas.microsoft.com/office/drawing/2014/main" id="{4A4F9D59-5A67-45B0-BCC9-CA98CD44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38650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C8"/>
                </a:solidFill>
              </a:defRPr>
            </a:pPr>
            <a:r>
              <a:rPr sz="1200" b="0">
                <a:solidFill>
                  <a:srgbClr val="B7C0C8"/>
                </a:solidFill>
              </a:rPr>
              <a:t>качество распознавания и объём QA</a:t>
            </a:r>
          </a:p>
        </p:txBody>
      </p:sp>
      <p:sp>
        <p:nvSpPr>
          <p:cNvPr id="15" name="text-117">
            <a:extLst xmlns:a="http://schemas.openxmlformats.org/drawingml/2006/main">
              <a:ext uri="{FF2B5EF4-FFF2-40B4-BE49-F238E27FC236}">
                <a16:creationId xmlns:a16="http://schemas.microsoft.com/office/drawing/2014/main" id="{43AADF17-3713-43AC-90F9-6868F69E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72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C7E3"/>
                </a:solidFill>
              </a:defRPr>
            </a:pPr>
            <a:r>
              <a:rPr sz="1500" b="1">
                <a:solidFill>
                  <a:srgbClr val="79C7E3"/>
                </a:solidFill>
              </a:rPr>
              <a:t>Automation score</a:t>
            </a:r>
          </a:p>
        </p:txBody>
      </p:sp>
      <p:sp>
        <p:nvSpPr>
          <p:cNvPr id="16" name="text-118">
            <a:extLst xmlns:a="http://schemas.openxmlformats.org/drawingml/2006/main">
              <a:ext uri="{FF2B5EF4-FFF2-40B4-BE49-F238E27FC236}">
                <a16:creationId xmlns:a16="http://schemas.microsoft.com/office/drawing/2014/main" id="{76C7AB2C-F106-40EE-BC17-C447E550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76850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0C8"/>
                </a:solidFill>
              </a:defRPr>
            </a:pPr>
            <a:r>
              <a:rPr sz="1200" b="0">
                <a:solidFill>
                  <a:srgbClr val="B7C0C8"/>
                </a:solidFill>
              </a:rPr>
              <a:t>приоритет для помощи ИИ или автоматизации</a:t>
            </a:r>
          </a:p>
        </p:txBody>
      </p:sp>
    </p:spTree>
    <p:extLst>
      <p:ext uri="{BB962C8B-B14F-4D97-AF65-F5344CB8AC3E}">
        <p14:creationId xmlns:p14="http://schemas.microsoft.com/office/powerpoint/2010/main" val="4179091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52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119">
            <a:extLst xmlns:a="http://schemas.openxmlformats.org/drawingml/2006/main">
              <a:ext uri="{FF2B5EF4-FFF2-40B4-BE49-F238E27FC236}">
                <a16:creationId xmlns:a16="http://schemas.microsoft.com/office/drawing/2014/main" id="{08CCAAC8-40FD-411D-95A0-99D7BEFC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DISPATCHER INTELLIGENCE</a:t>
            </a:r>
          </a:p>
        </p:txBody>
      </p:sp>
      <p:sp>
        <p:nvSpPr>
          <p:cNvPr id="2" name="text-120">
            <a:extLst xmlns:a="http://schemas.openxmlformats.org/drawingml/2006/main">
              <a:ext uri="{FF2B5EF4-FFF2-40B4-BE49-F238E27FC236}">
                <a16:creationId xmlns:a16="http://schemas.microsoft.com/office/drawing/2014/main" id="{6BD6BACC-AAA9-44C3-83C8-CE4CA30A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4"/>
                </a:solidFill>
              </a:defRPr>
            </a:pPr>
            <a:r>
              <a:rPr sz="2850" b="1">
                <a:solidFill>
                  <a:srgbClr val="F7F7F4"/>
                </a:solidFill>
              </a:rPr>
              <a:t>QA: данные можно проверить и исправить</a:t>
            </a:r>
          </a:p>
        </p:txBody>
      </p:sp>
      <p:sp>
        <p:nvSpPr>
          <p:cNvPr id="3" name="box-121">
            <a:extLst xmlns:a="http://schemas.openxmlformats.org/drawingml/2006/main">
              <a:ext uri="{FF2B5EF4-FFF2-40B4-BE49-F238E27FC236}">
                <a16:creationId xmlns:a16="http://schemas.microsoft.com/office/drawing/2014/main" id="{BAC3069D-C294-4E17-8490-3A5C3471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22">
            <a:extLst xmlns:a="http://schemas.openxmlformats.org/drawingml/2006/main">
              <a:ext uri="{FF2B5EF4-FFF2-40B4-BE49-F238E27FC236}">
                <a16:creationId xmlns:a16="http://schemas.microsoft.com/office/drawing/2014/main" id="{9420060E-F05A-404F-B49A-248DF564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C0C8"/>
                </a:solidFill>
              </a:defRPr>
            </a:pPr>
            <a:r>
              <a:rPr sz="825" b="1">
                <a:solidFill>
                  <a:srgbClr val="B7C0C8"/>
                </a:solidFill>
              </a:rPr>
              <a:t>07</a:t>
            </a:r>
          </a:p>
        </p:txBody>
      </p:sp>
      <p:sp>
        <p:nvSpPr>
          <p:cNvPr id="5" name="box-123">
            <a:extLst xmlns:a="http://schemas.openxmlformats.org/drawingml/2006/main">
              <a:ext uri="{FF2B5EF4-FFF2-40B4-BE49-F238E27FC236}">
                <a16:creationId xmlns:a16="http://schemas.microsoft.com/office/drawing/2014/main" id="{EBCD653E-588C-4F81-A958-C9EBB071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29615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99ac22eb24206"/>
          <a:srcRect xmlns:a="http://schemas.openxmlformats.org/drawingml/2006/main" l="6678" t="0" r="66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6991350" cy="4343400"/>
          </a:xfrm>
          <a:prstGeom xmlns:a="http://schemas.openxmlformats.org/drawingml/2006/main" prst="rect">
            <a:avLst/>
          </a:prstGeom>
        </p:spPr>
      </p:pic>
      <p:sp>
        <p:nvSpPr>
          <p:cNvPr id="7" name="text-124">
            <a:extLst xmlns:a="http://schemas.openxmlformats.org/drawingml/2006/main">
              <a:ext uri="{FF2B5EF4-FFF2-40B4-BE49-F238E27FC236}">
                <a16:creationId xmlns:a16="http://schemas.microsoft.com/office/drawing/2014/main" id="{2CC97F0A-B4C6-4BF6-BAB2-A6A6116E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C7E3"/>
                </a:solidFill>
              </a:defRPr>
            </a:pPr>
            <a:r>
              <a:rPr sz="1650" b="1">
                <a:solidFill>
                  <a:srgbClr val="79C7E3"/>
                </a:solidFill>
              </a:rPr>
              <a:t>Проверяем</a:t>
            </a:r>
          </a:p>
        </p:txBody>
      </p:sp>
      <p:sp>
        <p:nvSpPr>
          <p:cNvPr id="8" name="text-125">
            <a:extLst xmlns:a="http://schemas.openxmlformats.org/drawingml/2006/main">
              <a:ext uri="{FF2B5EF4-FFF2-40B4-BE49-F238E27FC236}">
                <a16:creationId xmlns:a16="http://schemas.microsoft.com/office/drawing/2014/main" id="{A5628D3D-695B-4BAE-B925-8C38F4C5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81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9" name="text-126">
            <a:extLst xmlns:a="http://schemas.openxmlformats.org/drawingml/2006/main">
              <a:ext uri="{FF2B5EF4-FFF2-40B4-BE49-F238E27FC236}">
                <a16:creationId xmlns:a16="http://schemas.microsoft.com/office/drawing/2014/main" id="{855F3FAD-2F5F-4AA5-B0DA-5379F638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пропущенные и повторные действия</a:t>
            </a:r>
          </a:p>
        </p:txBody>
      </p:sp>
      <p:sp>
        <p:nvSpPr>
          <p:cNvPr id="10" name="text-127">
            <a:extLst xmlns:a="http://schemas.openxmlformats.org/drawingml/2006/main">
              <a:ext uri="{FF2B5EF4-FFF2-40B4-BE49-F238E27FC236}">
                <a16:creationId xmlns:a16="http://schemas.microsoft.com/office/drawing/2014/main" id="{0D20C1DE-5E47-448E-8E39-3F6A3556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336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11" name="text-128">
            <a:extLst xmlns:a="http://schemas.openxmlformats.org/drawingml/2006/main">
              <a:ext uri="{FF2B5EF4-FFF2-40B4-BE49-F238E27FC236}">
                <a16:creationId xmlns:a16="http://schemas.microsoft.com/office/drawing/2014/main" id="{A3FE0C49-845E-45A5-BB94-2CFF2A5C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шум и низкую уверенность</a:t>
            </a:r>
          </a:p>
        </p:txBody>
      </p:sp>
      <p:sp>
        <p:nvSpPr>
          <p:cNvPr id="12" name="text-129">
            <a:extLst xmlns:a="http://schemas.openxmlformats.org/drawingml/2006/main">
              <a:ext uri="{FF2B5EF4-FFF2-40B4-BE49-F238E27FC236}">
                <a16:creationId xmlns:a16="http://schemas.microsoft.com/office/drawing/2014/main" id="{DA56E7FC-A92E-447F-8868-22A3F1E8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13" name="text-130">
            <a:extLst xmlns:a="http://schemas.openxmlformats.org/drawingml/2006/main">
              <a:ext uri="{FF2B5EF4-FFF2-40B4-BE49-F238E27FC236}">
                <a16:creationId xmlns:a16="http://schemas.microsoft.com/office/drawing/2014/main" id="{1869D15F-AF94-4857-B342-40FA3970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9565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неверные границы сценария</a:t>
            </a:r>
          </a:p>
        </p:txBody>
      </p:sp>
      <p:sp>
        <p:nvSpPr>
          <p:cNvPr id="14" name="text-131">
            <a:extLst xmlns:a="http://schemas.openxmlformats.org/drawingml/2006/main">
              <a:ext uri="{FF2B5EF4-FFF2-40B4-BE49-F238E27FC236}">
                <a16:creationId xmlns:a16="http://schemas.microsoft.com/office/drawing/2014/main" id="{4F56848C-CC0C-43BD-BE32-CF63CEB5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385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15" name="text-132">
            <a:extLst xmlns:a="http://schemas.openxmlformats.org/drawingml/2006/main">
              <a:ext uri="{FF2B5EF4-FFF2-40B4-BE49-F238E27FC236}">
                <a16:creationId xmlns:a16="http://schemas.microsoft.com/office/drawing/2014/main" id="{011E8F7C-8FC3-4639-865F-08AE7D8C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контекст по кадру и raw JSON</a:t>
            </a:r>
          </a:p>
        </p:txBody>
      </p:sp>
      <p:sp>
        <p:nvSpPr>
          <p:cNvPr id="16" name="text-133">
            <a:extLst xmlns:a="http://schemas.openxmlformats.org/drawingml/2006/main">
              <a:ext uri="{FF2B5EF4-FFF2-40B4-BE49-F238E27FC236}">
                <a16:creationId xmlns:a16="http://schemas.microsoft.com/office/drawing/2014/main" id="{13DD4229-3534-4CCA-BC81-C3DB8636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910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17" name="text-134">
            <a:extLst xmlns:a="http://schemas.openxmlformats.org/drawingml/2006/main">
              <a:ext uri="{FF2B5EF4-FFF2-40B4-BE49-F238E27FC236}">
                <a16:creationId xmlns:a16="http://schemas.microsoft.com/office/drawing/2014/main" id="{8B9C2566-8291-4370-B932-84783B33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0055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стабильность отчёта после правок</a:t>
            </a:r>
          </a:p>
        </p:txBody>
      </p:sp>
      <p:sp>
        <p:nvSpPr>
          <p:cNvPr id="18" name="box-135">
            <a:extLst xmlns:a="http://schemas.openxmlformats.org/drawingml/2006/main">
              <a:ext uri="{FF2B5EF4-FFF2-40B4-BE49-F238E27FC236}">
                <a16:creationId xmlns:a16="http://schemas.microsoft.com/office/drawing/2014/main" id="{98E8F194-B241-46B6-9950-AC5C08E8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1970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79C7E3"/>
            </a:solidFill>
            <a:prstDash val="solid"/>
          </a:ln>
        </p:spPr>
      </p:sp>
      <p:sp>
        <p:nvSpPr>
          <p:cNvPr id="19" name="text-136">
            <a:extLst xmlns:a="http://schemas.openxmlformats.org/drawingml/2006/main">
              <a:ext uri="{FF2B5EF4-FFF2-40B4-BE49-F238E27FC236}">
                <a16:creationId xmlns:a16="http://schemas.microsoft.com/office/drawing/2014/main" id="{EAA43253-8053-4357-876A-868CA16E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911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7F4"/>
                </a:solidFill>
              </a:defRPr>
            </a:pPr>
            <a:r>
              <a:rPr sz="1200" b="1">
                <a:solidFill>
                  <a:srgbClr val="F7F7F4"/>
                </a:solidFill>
              </a:rPr>
              <a:t>Результат QA сохраняется как ground truth и улучшает следующие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5871793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52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137">
            <a:extLst xmlns:a="http://schemas.openxmlformats.org/drawingml/2006/main">
              <a:ext uri="{FF2B5EF4-FFF2-40B4-BE49-F238E27FC236}">
                <a16:creationId xmlns:a16="http://schemas.microsoft.com/office/drawing/2014/main" id="{F0B0274C-9C46-4011-8937-304B758C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DISPATCHER INTELLIGENCE</a:t>
            </a:r>
          </a:p>
        </p:txBody>
      </p:sp>
      <p:sp>
        <p:nvSpPr>
          <p:cNvPr id="2" name="text-138">
            <a:extLst xmlns:a="http://schemas.openxmlformats.org/drawingml/2006/main">
              <a:ext uri="{FF2B5EF4-FFF2-40B4-BE49-F238E27FC236}">
                <a16:creationId xmlns:a16="http://schemas.microsoft.com/office/drawing/2014/main" id="{F8E00A1C-D34B-4571-957E-AC1845A2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4"/>
                </a:solidFill>
              </a:defRPr>
            </a:pPr>
            <a:r>
              <a:rPr sz="2850" b="1">
                <a:solidFill>
                  <a:srgbClr val="F7F7F4"/>
                </a:solidFill>
              </a:rPr>
              <a:t>Кандидаты на автоматизацию</a:t>
            </a:r>
          </a:p>
        </p:txBody>
      </p:sp>
      <p:sp>
        <p:nvSpPr>
          <p:cNvPr id="3" name="box-139">
            <a:extLst xmlns:a="http://schemas.openxmlformats.org/drawingml/2006/main">
              <a:ext uri="{FF2B5EF4-FFF2-40B4-BE49-F238E27FC236}">
                <a16:creationId xmlns:a16="http://schemas.microsoft.com/office/drawing/2014/main" id="{CE4375C7-CD35-4E50-A6ED-E640F1F1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40">
            <a:extLst xmlns:a="http://schemas.openxmlformats.org/drawingml/2006/main">
              <a:ext uri="{FF2B5EF4-FFF2-40B4-BE49-F238E27FC236}">
                <a16:creationId xmlns:a16="http://schemas.microsoft.com/office/drawing/2014/main" id="{AD094E66-02A2-422B-9758-768D5E56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C0C8"/>
                </a:solidFill>
              </a:defRPr>
            </a:pPr>
            <a:r>
              <a:rPr sz="825" b="1">
                <a:solidFill>
                  <a:srgbClr val="B7C0C8"/>
                </a:solidFill>
              </a:rPr>
              <a:t>08</a:t>
            </a:r>
          </a:p>
        </p:txBody>
      </p:sp>
      <p:sp>
        <p:nvSpPr>
          <p:cNvPr id="5" name="box-141">
            <a:extLst xmlns:a="http://schemas.openxmlformats.org/drawingml/2006/main">
              <a:ext uri="{FF2B5EF4-FFF2-40B4-BE49-F238E27FC236}">
                <a16:creationId xmlns:a16="http://schemas.microsoft.com/office/drawing/2014/main" id="{0F0DA433-E482-497A-9243-BAF5D500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657225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284cb0f0c4c95"/>
          <a:srcRect xmlns:a="http://schemas.openxmlformats.org/drawingml/2006/main" l="0" t="12778" r="0" b="12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6267450" cy="4343400"/>
          </a:xfrm>
          <a:prstGeom xmlns:a="http://schemas.openxmlformats.org/drawingml/2006/main" prst="rect">
            <a:avLst/>
          </a:prstGeom>
        </p:spPr>
      </p:pic>
      <p:sp>
        <p:nvSpPr>
          <p:cNvPr id="7" name="text-142">
            <a:extLst xmlns:a="http://schemas.openxmlformats.org/drawingml/2006/main">
              <a:ext uri="{FF2B5EF4-FFF2-40B4-BE49-F238E27FC236}">
                <a16:creationId xmlns:a16="http://schemas.microsoft.com/office/drawing/2014/main" id="{16573AD2-90F4-4107-B791-F7F0F0F8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95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7F4"/>
                </a:solidFill>
              </a:defRPr>
            </a:pPr>
            <a:r>
              <a:rPr sz="1800" b="1">
                <a:solidFill>
                  <a:srgbClr val="F7F7F4"/>
                </a:solidFill>
              </a:rPr>
              <a:t>Оценка объяснима</a:t>
            </a:r>
          </a:p>
        </p:txBody>
      </p:sp>
      <p:sp>
        <p:nvSpPr>
          <p:cNvPr id="8" name="text-143">
            <a:extLst xmlns:a="http://schemas.openxmlformats.org/drawingml/2006/main">
              <a:ext uri="{FF2B5EF4-FFF2-40B4-BE49-F238E27FC236}">
                <a16:creationId xmlns:a16="http://schemas.microsoft.com/office/drawing/2014/main" id="{5562ABE8-EE8A-4B00-83D6-6702F4F2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717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0C8"/>
                </a:solidFill>
              </a:defRPr>
            </a:pPr>
            <a:r>
              <a:rPr sz="1350" b="0">
                <a:solidFill>
                  <a:srgbClr val="B7C0C8"/>
                </a:solidFill>
              </a:rPr>
              <a:t>Каждый кандидат получает score и расклад по факторам:</a:t>
            </a:r>
          </a:p>
        </p:txBody>
      </p:sp>
      <p:sp>
        <p:nvSpPr>
          <p:cNvPr id="9" name="box-144">
            <a:extLst xmlns:a="http://schemas.openxmlformats.org/drawingml/2006/main">
              <a:ext uri="{FF2B5EF4-FFF2-40B4-BE49-F238E27FC236}">
                <a16:creationId xmlns:a16="http://schemas.microsoft.com/office/drawing/2014/main" id="{8454D22F-6F0A-41E0-BD76-CAF832D2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79C7E3"/>
            </a:solidFill>
            <a:prstDash val="solid"/>
          </a:ln>
        </p:spPr>
      </p:sp>
      <p:sp>
        <p:nvSpPr>
          <p:cNvPr id="10" name="text-145">
            <a:extLst xmlns:a="http://schemas.openxmlformats.org/drawingml/2006/main">
              <a:ext uri="{FF2B5EF4-FFF2-40B4-BE49-F238E27FC236}">
                <a16:creationId xmlns:a16="http://schemas.microsoft.com/office/drawing/2014/main" id="{0C85F5B4-D7B6-4C5C-9152-F19C6240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0990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ЧАСТОТА</a:t>
            </a:r>
          </a:p>
        </p:txBody>
      </p:sp>
      <p:sp>
        <p:nvSpPr>
          <p:cNvPr id="11" name="box-146">
            <a:extLst xmlns:a="http://schemas.openxmlformats.org/drawingml/2006/main">
              <a:ext uri="{FF2B5EF4-FFF2-40B4-BE49-F238E27FC236}">
                <a16:creationId xmlns:a16="http://schemas.microsoft.com/office/drawing/2014/main" id="{3CF90E76-B473-479D-B2DE-1151F9B0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2057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79C7E3"/>
            </a:solidFill>
            <a:prstDash val="solid"/>
          </a:ln>
        </p:spPr>
      </p:sp>
      <p:sp>
        <p:nvSpPr>
          <p:cNvPr id="12" name="text-147">
            <a:extLst xmlns:a="http://schemas.openxmlformats.org/drawingml/2006/main">
              <a:ext uri="{FF2B5EF4-FFF2-40B4-BE49-F238E27FC236}">
                <a16:creationId xmlns:a16="http://schemas.microsoft.com/office/drawing/2014/main" id="{393E923E-8D0E-44F9-86D5-FB3D8822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099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ПОВТОРЯЕМОСТЬ</a:t>
            </a:r>
          </a:p>
        </p:txBody>
      </p:sp>
      <p:sp>
        <p:nvSpPr>
          <p:cNvPr id="13" name="box-148">
            <a:extLst xmlns:a="http://schemas.openxmlformats.org/drawingml/2006/main">
              <a:ext uri="{FF2B5EF4-FFF2-40B4-BE49-F238E27FC236}">
                <a16:creationId xmlns:a16="http://schemas.microsoft.com/office/drawing/2014/main" id="{97165137-1C8B-4703-9607-6760590A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90900"/>
            <a:ext cx="2057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79C7E3"/>
            </a:solidFill>
            <a:prstDash val="solid"/>
          </a:ln>
        </p:spPr>
      </p:sp>
      <p:sp>
        <p:nvSpPr>
          <p:cNvPr id="14" name="text-149">
            <a:extLst xmlns:a="http://schemas.openxmlformats.org/drawingml/2006/main">
              <a:ext uri="{FF2B5EF4-FFF2-40B4-BE49-F238E27FC236}">
                <a16:creationId xmlns:a16="http://schemas.microsoft.com/office/drawing/2014/main" id="{857D4D27-AF30-4780-8419-205293A7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48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РУЧНЫЕ ПРОВЕРКИ</a:t>
            </a:r>
          </a:p>
        </p:txBody>
      </p:sp>
      <p:sp>
        <p:nvSpPr>
          <p:cNvPr id="15" name="box-150">
            <a:extLst xmlns:a="http://schemas.openxmlformats.org/drawingml/2006/main">
              <a:ext uri="{FF2B5EF4-FFF2-40B4-BE49-F238E27FC236}">
                <a16:creationId xmlns:a16="http://schemas.microsoft.com/office/drawing/2014/main" id="{C26335BE-3E9A-46DB-A6A4-F07180EC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909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79C7E3"/>
            </a:solidFill>
            <a:prstDash val="solid"/>
          </a:ln>
        </p:spPr>
      </p:sp>
      <p:sp>
        <p:nvSpPr>
          <p:cNvPr id="16" name="text-151">
            <a:extLst xmlns:a="http://schemas.openxmlformats.org/drawingml/2006/main">
              <a:ext uri="{FF2B5EF4-FFF2-40B4-BE49-F238E27FC236}">
                <a16:creationId xmlns:a16="http://schemas.microsoft.com/office/drawing/2014/main" id="{AD8FC632-7074-4FB2-A985-5FA97927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480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ВЛИЯНИЕ НА ВРЕМЯ</a:t>
            </a:r>
          </a:p>
        </p:txBody>
      </p:sp>
      <p:sp>
        <p:nvSpPr>
          <p:cNvPr id="17" name="box-152">
            <a:extLst xmlns:a="http://schemas.openxmlformats.org/drawingml/2006/main">
              <a:ext uri="{FF2B5EF4-FFF2-40B4-BE49-F238E27FC236}">
                <a16:creationId xmlns:a16="http://schemas.microsoft.com/office/drawing/2014/main" id="{973641DA-0BE6-4277-82F6-D1469FD1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2905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79C7E3"/>
            </a:solidFill>
            <a:prstDash val="solid"/>
          </a:ln>
        </p:spPr>
      </p:sp>
      <p:sp>
        <p:nvSpPr>
          <p:cNvPr id="18" name="text-153">
            <a:extLst xmlns:a="http://schemas.openxmlformats.org/drawingml/2006/main">
              <a:ext uri="{FF2B5EF4-FFF2-40B4-BE49-F238E27FC236}">
                <a16:creationId xmlns:a16="http://schemas.microsoft.com/office/drawing/2014/main" id="{ED4CE22F-A2BE-4407-8985-49C30353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86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СНИЖЕНИЕ ОШИБОК</a:t>
            </a:r>
          </a:p>
        </p:txBody>
      </p:sp>
      <p:sp>
        <p:nvSpPr>
          <p:cNvPr id="19" name="box-154">
            <a:extLst xmlns:a="http://schemas.openxmlformats.org/drawingml/2006/main">
              <a:ext uri="{FF2B5EF4-FFF2-40B4-BE49-F238E27FC236}">
                <a16:creationId xmlns:a16="http://schemas.microsoft.com/office/drawing/2014/main" id="{4C53E888-7D89-45B3-A01B-29062F67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196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5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55">
            <a:extLst xmlns:a="http://schemas.openxmlformats.org/drawingml/2006/main">
              <a:ext uri="{FF2B5EF4-FFF2-40B4-BE49-F238E27FC236}">
                <a16:creationId xmlns:a16="http://schemas.microsoft.com/office/drawing/2014/main" id="{15E22F17-8C24-4D96-9B0A-544CEE05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67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C7E3"/>
                </a:solidFill>
              </a:defRPr>
            </a:pPr>
            <a:r>
              <a:rPr sz="1350" b="1">
                <a:solidFill>
                  <a:srgbClr val="79C7E3"/>
                </a:solidFill>
              </a:rPr>
              <a:t>Примеры результата</a:t>
            </a:r>
          </a:p>
        </p:txBody>
      </p:sp>
      <p:sp>
        <p:nvSpPr>
          <p:cNvPr id="21" name="text-156">
            <a:extLst xmlns:a="http://schemas.openxmlformats.org/drawingml/2006/main">
              <a:ext uri="{FF2B5EF4-FFF2-40B4-BE49-F238E27FC236}">
                <a16:creationId xmlns:a16="http://schemas.microsoft.com/office/drawing/2014/main" id="{6FC2DA2A-BB7F-41C3-9673-3C7628D7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577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22" name="text-157">
            <a:extLst xmlns:a="http://schemas.openxmlformats.org/drawingml/2006/main">
              <a:ext uri="{FF2B5EF4-FFF2-40B4-BE49-F238E27FC236}">
                <a16:creationId xmlns:a16="http://schemas.microsoft.com/office/drawing/2014/main" id="{84CB2247-AF40-437D-A3DF-7EB7DD5B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67300"/>
            <a:ext cx="346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автозаполнение поля</a:t>
            </a:r>
          </a:p>
        </p:txBody>
      </p:sp>
      <p:sp>
        <p:nvSpPr>
          <p:cNvPr id="23" name="text-158">
            <a:extLst xmlns:a="http://schemas.openxmlformats.org/drawingml/2006/main">
              <a:ext uri="{FF2B5EF4-FFF2-40B4-BE49-F238E27FC236}">
                <a16:creationId xmlns:a16="http://schemas.microsoft.com/office/drawing/2014/main" id="{A68CF10D-C192-43CA-B8C0-6B4383CB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76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24" name="text-159">
            <a:extLst xmlns:a="http://schemas.openxmlformats.org/drawingml/2006/main">
              <a:ext uri="{FF2B5EF4-FFF2-40B4-BE49-F238E27FC236}">
                <a16:creationId xmlns:a16="http://schemas.microsoft.com/office/drawing/2014/main" id="{F6A3AF51-F7CD-4033-B26B-B64F90AD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86400"/>
            <a:ext cx="346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подсказка следующего шага</a:t>
            </a:r>
          </a:p>
        </p:txBody>
      </p:sp>
      <p:sp>
        <p:nvSpPr>
          <p:cNvPr id="25" name="text-160">
            <a:extLst xmlns:a="http://schemas.openxmlformats.org/drawingml/2006/main">
              <a:ext uri="{FF2B5EF4-FFF2-40B4-BE49-F238E27FC236}">
                <a16:creationId xmlns:a16="http://schemas.microsoft.com/office/drawing/2014/main" id="{8C448C24-4958-4737-A8FF-76FA2C2E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8959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26" name="text-161">
            <a:extLst xmlns:a="http://schemas.openxmlformats.org/drawingml/2006/main">
              <a:ext uri="{FF2B5EF4-FFF2-40B4-BE49-F238E27FC236}">
                <a16:creationId xmlns:a16="http://schemas.microsoft.com/office/drawing/2014/main" id="{B1E6C15B-17F9-4CFF-A822-2436E643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05500"/>
            <a:ext cx="346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помощник ручной проверки</a:t>
            </a:r>
          </a:p>
        </p:txBody>
      </p:sp>
    </p:spTree>
    <p:extLst>
      <p:ext uri="{BB962C8B-B14F-4D97-AF65-F5344CB8AC3E}">
        <p14:creationId xmlns:p14="http://schemas.microsoft.com/office/powerpoint/2010/main" val="1793409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52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162">
            <a:extLst xmlns:a="http://schemas.openxmlformats.org/drawingml/2006/main">
              <a:ext uri="{FF2B5EF4-FFF2-40B4-BE49-F238E27FC236}">
                <a16:creationId xmlns:a16="http://schemas.microsoft.com/office/drawing/2014/main" id="{6336A8C0-CF00-49ED-B993-CC02096E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DISPATCHER INTELLIGENCE</a:t>
            </a:r>
          </a:p>
        </p:txBody>
      </p:sp>
      <p:sp>
        <p:nvSpPr>
          <p:cNvPr id="2" name="text-163">
            <a:extLst xmlns:a="http://schemas.openxmlformats.org/drawingml/2006/main">
              <a:ext uri="{FF2B5EF4-FFF2-40B4-BE49-F238E27FC236}">
                <a16:creationId xmlns:a16="http://schemas.microsoft.com/office/drawing/2014/main" id="{001F9B14-9F60-4BB9-8EB9-D84AC353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4"/>
                </a:solidFill>
              </a:defRPr>
            </a:pPr>
            <a:r>
              <a:rPr sz="2850" b="1">
                <a:solidFill>
                  <a:srgbClr val="F7F7F4"/>
                </a:solidFill>
              </a:rPr>
              <a:t>Технологический стек</a:t>
            </a:r>
          </a:p>
        </p:txBody>
      </p:sp>
      <p:sp>
        <p:nvSpPr>
          <p:cNvPr id="3" name="box-164">
            <a:extLst xmlns:a="http://schemas.openxmlformats.org/drawingml/2006/main">
              <a:ext uri="{FF2B5EF4-FFF2-40B4-BE49-F238E27FC236}">
                <a16:creationId xmlns:a16="http://schemas.microsoft.com/office/drawing/2014/main" id="{28AA4F07-CEFA-4F6C-87AE-B35BA651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65">
            <a:extLst xmlns:a="http://schemas.openxmlformats.org/drawingml/2006/main">
              <a:ext uri="{FF2B5EF4-FFF2-40B4-BE49-F238E27FC236}">
                <a16:creationId xmlns:a16="http://schemas.microsoft.com/office/drawing/2014/main" id="{BC0748D6-C7AA-408E-9A0C-C9F0B1C8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C0C8"/>
                </a:solidFill>
              </a:defRPr>
            </a:pPr>
            <a:r>
              <a:rPr sz="825" b="1">
                <a:solidFill>
                  <a:srgbClr val="B7C0C8"/>
                </a:solidFill>
              </a:rPr>
              <a:t>09</a:t>
            </a:r>
          </a:p>
        </p:txBody>
      </p:sp>
      <p:sp>
        <p:nvSpPr>
          <p:cNvPr id="5" name="box-166">
            <a:extLst xmlns:a="http://schemas.openxmlformats.org/drawingml/2006/main">
              <a:ext uri="{FF2B5EF4-FFF2-40B4-BE49-F238E27FC236}">
                <a16:creationId xmlns:a16="http://schemas.microsoft.com/office/drawing/2014/main" id="{07B4F3F6-5475-46D9-9987-E132B79F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6" name="text-167">
            <a:extLst xmlns:a="http://schemas.openxmlformats.org/drawingml/2006/main">
              <a:ext uri="{FF2B5EF4-FFF2-40B4-BE49-F238E27FC236}">
                <a16:creationId xmlns:a16="http://schemas.microsoft.com/office/drawing/2014/main" id="{3E972143-6490-40D8-BADB-E9B10A9E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7E3"/>
                </a:solidFill>
              </a:defRPr>
            </a:pPr>
            <a:r>
              <a:rPr sz="1800" b="1">
                <a:solidFill>
                  <a:srgbClr val="79C7E3"/>
                </a:solidFill>
              </a:rPr>
              <a:t>Frontend</a:t>
            </a:r>
          </a:p>
        </p:txBody>
      </p:sp>
      <p:sp>
        <p:nvSpPr>
          <p:cNvPr id="7" name="text-168">
            <a:extLst xmlns:a="http://schemas.openxmlformats.org/drawingml/2006/main">
              <a:ext uri="{FF2B5EF4-FFF2-40B4-BE49-F238E27FC236}">
                <a16:creationId xmlns:a16="http://schemas.microsoft.com/office/drawing/2014/main" id="{CCA6C27C-0DB7-491D-9BF8-63DF196B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8" name="text-169">
            <a:extLst xmlns:a="http://schemas.openxmlformats.org/drawingml/2006/main">
              <a:ext uri="{FF2B5EF4-FFF2-40B4-BE49-F238E27FC236}">
                <a16:creationId xmlns:a16="http://schemas.microsoft.com/office/drawing/2014/main" id="{2D12C2E8-48EA-4D2C-8338-F94E7125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Next.js 16</a:t>
            </a:r>
          </a:p>
        </p:txBody>
      </p:sp>
      <p:sp>
        <p:nvSpPr>
          <p:cNvPr id="9" name="text-170">
            <a:extLst xmlns:a="http://schemas.openxmlformats.org/drawingml/2006/main">
              <a:ext uri="{FF2B5EF4-FFF2-40B4-BE49-F238E27FC236}">
                <a16:creationId xmlns:a16="http://schemas.microsoft.com/office/drawing/2014/main" id="{609151C5-67F8-41E2-BEA7-F255EBE8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10" name="text-171">
            <a:extLst xmlns:a="http://schemas.openxmlformats.org/drawingml/2006/main">
              <a:ext uri="{FF2B5EF4-FFF2-40B4-BE49-F238E27FC236}">
                <a16:creationId xmlns:a16="http://schemas.microsoft.com/office/drawing/2014/main" id="{7BD4726F-7401-45E6-BFF2-10C1C4FB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React 19</a:t>
            </a:r>
          </a:p>
        </p:txBody>
      </p:sp>
      <p:sp>
        <p:nvSpPr>
          <p:cNvPr id="11" name="text-172">
            <a:extLst xmlns:a="http://schemas.openxmlformats.org/drawingml/2006/main">
              <a:ext uri="{FF2B5EF4-FFF2-40B4-BE49-F238E27FC236}">
                <a16:creationId xmlns:a16="http://schemas.microsoft.com/office/drawing/2014/main" id="{BD1C0752-6C9C-4D21-8604-A8AF2706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12" name="text-173">
            <a:extLst xmlns:a="http://schemas.openxmlformats.org/drawingml/2006/main">
              <a:ext uri="{FF2B5EF4-FFF2-40B4-BE49-F238E27FC236}">
                <a16:creationId xmlns:a16="http://schemas.microsoft.com/office/drawing/2014/main" id="{FAA610C8-2434-40ED-8005-431BD652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671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TypeScript</a:t>
            </a:r>
          </a:p>
        </p:txBody>
      </p:sp>
      <p:sp>
        <p:nvSpPr>
          <p:cNvPr id="13" name="text-174">
            <a:extLst xmlns:a="http://schemas.openxmlformats.org/drawingml/2006/main">
              <a:ext uri="{FF2B5EF4-FFF2-40B4-BE49-F238E27FC236}">
                <a16:creationId xmlns:a16="http://schemas.microsoft.com/office/drawing/2014/main" id="{C540F7CF-65F6-4664-91EF-178C2B8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14" name="text-175">
            <a:extLst xmlns:a="http://schemas.openxmlformats.org/drawingml/2006/main">
              <a:ext uri="{FF2B5EF4-FFF2-40B4-BE49-F238E27FC236}">
                <a16:creationId xmlns:a16="http://schemas.microsoft.com/office/drawing/2014/main" id="{0F578581-62C3-4AFF-9A49-9E119764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Tailwind CSS</a:t>
            </a:r>
          </a:p>
        </p:txBody>
      </p:sp>
      <p:sp>
        <p:nvSpPr>
          <p:cNvPr id="15" name="text-176">
            <a:extLst xmlns:a="http://schemas.openxmlformats.org/drawingml/2006/main">
              <a:ext uri="{FF2B5EF4-FFF2-40B4-BE49-F238E27FC236}">
                <a16:creationId xmlns:a16="http://schemas.microsoft.com/office/drawing/2014/main" id="{73F48500-5888-4AC3-AE95-DB333C0D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16" name="text-177">
            <a:extLst xmlns:a="http://schemas.openxmlformats.org/drawingml/2006/main">
              <a:ext uri="{FF2B5EF4-FFF2-40B4-BE49-F238E27FC236}">
                <a16:creationId xmlns:a16="http://schemas.microsoft.com/office/drawing/2014/main" id="{67199480-68DA-4CD7-8D46-37FD3A19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Playwright / Vitest</a:t>
            </a:r>
          </a:p>
        </p:txBody>
      </p:sp>
      <p:sp>
        <p:nvSpPr>
          <p:cNvPr id="17" name="box-178">
            <a:extLst xmlns:a="http://schemas.openxmlformats.org/drawingml/2006/main">
              <a:ext uri="{FF2B5EF4-FFF2-40B4-BE49-F238E27FC236}">
                <a16:creationId xmlns:a16="http://schemas.microsoft.com/office/drawing/2014/main" id="{F491A44F-D5FF-4C8A-B671-5859A627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73B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18" name="text-179">
            <a:extLst xmlns:a="http://schemas.openxmlformats.org/drawingml/2006/main">
              <a:ext uri="{FF2B5EF4-FFF2-40B4-BE49-F238E27FC236}">
                <a16:creationId xmlns:a16="http://schemas.microsoft.com/office/drawing/2014/main" id="{E06AF922-21F0-4B0C-896E-56A722DA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7E3"/>
                </a:solidFill>
              </a:defRPr>
            </a:pPr>
            <a:r>
              <a:rPr sz="1800" b="1">
                <a:solidFill>
                  <a:srgbClr val="79C7E3"/>
                </a:solidFill>
              </a:rPr>
              <a:t>Backend и AI</a:t>
            </a:r>
          </a:p>
        </p:txBody>
      </p:sp>
      <p:sp>
        <p:nvSpPr>
          <p:cNvPr id="19" name="text-180">
            <a:extLst xmlns:a="http://schemas.openxmlformats.org/drawingml/2006/main">
              <a:ext uri="{FF2B5EF4-FFF2-40B4-BE49-F238E27FC236}">
                <a16:creationId xmlns:a16="http://schemas.microsoft.com/office/drawing/2014/main" id="{50FFD7D2-9EBF-4CDB-8FBF-2D8BC8B8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20" name="text-181">
            <a:extLst xmlns:a="http://schemas.openxmlformats.org/drawingml/2006/main">
              <a:ext uri="{FF2B5EF4-FFF2-40B4-BE49-F238E27FC236}">
                <a16:creationId xmlns:a16="http://schemas.microsoft.com/office/drawing/2014/main" id="{457559AB-8A02-4D43-BD90-2C503672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384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Go</a:t>
            </a:r>
          </a:p>
        </p:txBody>
      </p:sp>
      <p:sp>
        <p:nvSpPr>
          <p:cNvPr id="21" name="text-182">
            <a:extLst xmlns:a="http://schemas.openxmlformats.org/drawingml/2006/main">
              <a:ext uri="{FF2B5EF4-FFF2-40B4-BE49-F238E27FC236}">
                <a16:creationId xmlns:a16="http://schemas.microsoft.com/office/drawing/2014/main" id="{FE27932A-E2D2-4B01-995C-68C28CBB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22" name="text-183">
            <a:extLst xmlns:a="http://schemas.openxmlformats.org/drawingml/2006/main">
              <a:ext uri="{FF2B5EF4-FFF2-40B4-BE49-F238E27FC236}">
                <a16:creationId xmlns:a16="http://schemas.microsoft.com/office/drawing/2014/main" id="{684AE0AF-F94B-4186-98D4-BE9FD9AA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527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Gemini video analysis</a:t>
            </a:r>
          </a:p>
        </p:txBody>
      </p:sp>
      <p:sp>
        <p:nvSpPr>
          <p:cNvPr id="23" name="text-184">
            <a:extLst xmlns:a="http://schemas.openxmlformats.org/drawingml/2006/main">
              <a:ext uri="{FF2B5EF4-FFF2-40B4-BE49-F238E27FC236}">
                <a16:creationId xmlns:a16="http://schemas.microsoft.com/office/drawing/2014/main" id="{0AEC1DDF-B5E1-4B88-9BCE-35BF05D9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575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24" name="text-185">
            <a:extLst xmlns:a="http://schemas.openxmlformats.org/drawingml/2006/main">
              <a:ext uri="{FF2B5EF4-FFF2-40B4-BE49-F238E27FC236}">
                <a16:creationId xmlns:a16="http://schemas.microsoft.com/office/drawing/2014/main" id="{9F520AB4-2034-470E-BE8F-7B9C994A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671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детерминированный pipeline</a:t>
            </a:r>
          </a:p>
        </p:txBody>
      </p:sp>
      <p:sp>
        <p:nvSpPr>
          <p:cNvPr id="25" name="text-186">
            <a:extLst xmlns:a="http://schemas.openxmlformats.org/drawingml/2006/main">
              <a:ext uri="{FF2B5EF4-FFF2-40B4-BE49-F238E27FC236}">
                <a16:creationId xmlns:a16="http://schemas.microsoft.com/office/drawing/2014/main" id="{091FD679-77E8-4A07-9507-D930BB89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71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26" name="text-187">
            <a:extLst xmlns:a="http://schemas.openxmlformats.org/drawingml/2006/main">
              <a:ext uri="{FF2B5EF4-FFF2-40B4-BE49-F238E27FC236}">
                <a16:creationId xmlns:a16="http://schemas.microsoft.com/office/drawing/2014/main" id="{15BBC895-E877-4108-B13A-4409C55A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814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OpenAPI</a:t>
            </a:r>
          </a:p>
        </p:txBody>
      </p:sp>
      <p:sp>
        <p:nvSpPr>
          <p:cNvPr id="27" name="text-188">
            <a:extLst xmlns:a="http://schemas.openxmlformats.org/drawingml/2006/main">
              <a:ext uri="{FF2B5EF4-FFF2-40B4-BE49-F238E27FC236}">
                <a16:creationId xmlns:a16="http://schemas.microsoft.com/office/drawing/2014/main" id="{D004370C-EF3D-454F-82D2-19C39D7A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28" name="text-189">
            <a:extLst xmlns:a="http://schemas.openxmlformats.org/drawingml/2006/main">
              <a:ext uri="{FF2B5EF4-FFF2-40B4-BE49-F238E27FC236}">
                <a16:creationId xmlns:a16="http://schemas.microsoft.com/office/drawing/2014/main" id="{E34B5FBC-814A-4E0E-8DF3-01478501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958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ffmpeg / ffprobe</a:t>
            </a:r>
          </a:p>
        </p:txBody>
      </p:sp>
      <p:sp>
        <p:nvSpPr>
          <p:cNvPr id="29" name="box-190">
            <a:extLst xmlns:a="http://schemas.openxmlformats.org/drawingml/2006/main">
              <a:ext uri="{FF2B5EF4-FFF2-40B4-BE49-F238E27FC236}">
                <a16:creationId xmlns:a16="http://schemas.microsoft.com/office/drawing/2014/main" id="{386A3FE0-58C1-4755-8698-11941369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19250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30" name="text-191">
            <a:extLst xmlns:a="http://schemas.openxmlformats.org/drawingml/2006/main">
              <a:ext uri="{FF2B5EF4-FFF2-40B4-BE49-F238E27FC236}">
                <a16:creationId xmlns:a16="http://schemas.microsoft.com/office/drawing/2014/main" id="{D67CFE7B-BDBD-4DCA-9600-1E912785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7E3"/>
                </a:solidFill>
              </a:defRPr>
            </a:pPr>
            <a:r>
              <a:rPr sz="1800" b="1">
                <a:solidFill>
                  <a:srgbClr val="79C7E3"/>
                </a:solidFill>
              </a:rPr>
              <a:t>Данные и infra</a:t>
            </a:r>
          </a:p>
        </p:txBody>
      </p:sp>
      <p:sp>
        <p:nvSpPr>
          <p:cNvPr id="31" name="text-192">
            <a:extLst xmlns:a="http://schemas.openxmlformats.org/drawingml/2006/main">
              <a:ext uri="{FF2B5EF4-FFF2-40B4-BE49-F238E27FC236}">
                <a16:creationId xmlns:a16="http://schemas.microsoft.com/office/drawing/2014/main" id="{33EDA975-A030-4FF0-84FE-33AF36D9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32" name="text-193">
            <a:extLst xmlns:a="http://schemas.openxmlformats.org/drawingml/2006/main">
              <a:ext uri="{FF2B5EF4-FFF2-40B4-BE49-F238E27FC236}">
                <a16:creationId xmlns:a16="http://schemas.microsoft.com/office/drawing/2014/main" id="{CFBE02B4-7B58-4C2E-9CFE-712CFE0E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384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PostgreSQL / Neon</a:t>
            </a:r>
          </a:p>
        </p:txBody>
      </p:sp>
      <p:sp>
        <p:nvSpPr>
          <p:cNvPr id="33" name="text-194">
            <a:extLst xmlns:a="http://schemas.openxmlformats.org/drawingml/2006/main">
              <a:ext uri="{FF2B5EF4-FFF2-40B4-BE49-F238E27FC236}">
                <a16:creationId xmlns:a16="http://schemas.microsoft.com/office/drawing/2014/main" id="{C74006C1-F602-40FD-AF84-4D3F1A54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34" name="text-195">
            <a:extLst xmlns:a="http://schemas.openxmlformats.org/drawingml/2006/main">
              <a:ext uri="{FF2B5EF4-FFF2-40B4-BE49-F238E27FC236}">
                <a16:creationId xmlns:a16="http://schemas.microsoft.com/office/drawing/2014/main" id="{9A1A6BC7-E8C1-48A3-827F-57BF310B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Redis / Asynq</a:t>
            </a:r>
          </a:p>
        </p:txBody>
      </p:sp>
      <p:sp>
        <p:nvSpPr>
          <p:cNvPr id="35" name="text-196">
            <a:extLst xmlns:a="http://schemas.openxmlformats.org/drawingml/2006/main">
              <a:ext uri="{FF2B5EF4-FFF2-40B4-BE49-F238E27FC236}">
                <a16:creationId xmlns:a16="http://schemas.microsoft.com/office/drawing/2014/main" id="{A6FA9BD1-9B1A-435F-B5AA-0E455695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575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36" name="text-197">
            <a:extLst xmlns:a="http://schemas.openxmlformats.org/drawingml/2006/main">
              <a:ext uri="{FF2B5EF4-FFF2-40B4-BE49-F238E27FC236}">
                <a16:creationId xmlns:a16="http://schemas.microsoft.com/office/drawing/2014/main" id="{8B1306F7-CB9C-44A6-AFBF-0679EC92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671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S3 / MinIO / B2</a:t>
            </a:r>
          </a:p>
        </p:txBody>
      </p:sp>
      <p:sp>
        <p:nvSpPr>
          <p:cNvPr id="37" name="text-198">
            <a:extLst xmlns:a="http://schemas.openxmlformats.org/drawingml/2006/main">
              <a:ext uri="{FF2B5EF4-FFF2-40B4-BE49-F238E27FC236}">
                <a16:creationId xmlns:a16="http://schemas.microsoft.com/office/drawing/2014/main" id="{F99897DD-455D-4BD9-AC23-C588019F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71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38" name="text-199">
            <a:extLst xmlns:a="http://schemas.openxmlformats.org/drawingml/2006/main">
              <a:ext uri="{FF2B5EF4-FFF2-40B4-BE49-F238E27FC236}">
                <a16:creationId xmlns:a16="http://schemas.microsoft.com/office/drawing/2014/main" id="{F0F6BC89-A24B-43E2-BF14-9C9F98E5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814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Docker Compose</a:t>
            </a:r>
          </a:p>
        </p:txBody>
      </p:sp>
      <p:sp>
        <p:nvSpPr>
          <p:cNvPr id="39" name="text-200">
            <a:extLst xmlns:a="http://schemas.openxmlformats.org/drawingml/2006/main">
              <a:ext uri="{FF2B5EF4-FFF2-40B4-BE49-F238E27FC236}">
                <a16:creationId xmlns:a16="http://schemas.microsoft.com/office/drawing/2014/main" id="{3C448DDC-F071-49BA-9A9A-1CF77250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862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C7E3"/>
                </a:solidFill>
              </a:defRPr>
            </a:pPr>
            <a:r>
              <a:rPr sz="1575" b="1">
                <a:solidFill>
                  <a:srgbClr val="79C7E3"/>
                </a:solidFill>
              </a:rPr>
              <a:t>•</a:t>
            </a:r>
          </a:p>
        </p:txBody>
      </p:sp>
      <p:sp>
        <p:nvSpPr>
          <p:cNvPr id="40" name="text-201">
            <a:extLst xmlns:a="http://schemas.openxmlformats.org/drawingml/2006/main">
              <a:ext uri="{FF2B5EF4-FFF2-40B4-BE49-F238E27FC236}">
                <a16:creationId xmlns:a16="http://schemas.microsoft.com/office/drawing/2014/main" id="{A4842A6E-9BEF-44FE-8CDF-1299BAE9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958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4"/>
                </a:solidFill>
              </a:defRPr>
            </a:pPr>
            <a:r>
              <a:rPr sz="1275" b="0">
                <a:solidFill>
                  <a:srgbClr val="F7F7F4"/>
                </a:solidFill>
              </a:rPr>
              <a:t>Prometheus / Grafana / Loki</a:t>
            </a:r>
          </a:p>
        </p:txBody>
      </p:sp>
      <p:sp>
        <p:nvSpPr>
          <p:cNvPr id="41" name="box-202">
            <a:extLst xmlns:a="http://schemas.openxmlformats.org/drawingml/2006/main">
              <a:ext uri="{FF2B5EF4-FFF2-40B4-BE49-F238E27FC236}">
                <a16:creationId xmlns:a16="http://schemas.microsoft.com/office/drawing/2014/main" id="{0A74F2B1-2170-477A-9B2A-0E7695E5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79C7E3"/>
            </a:solidFill>
            <a:prstDash val="solid"/>
          </a:ln>
        </p:spPr>
      </p:sp>
      <p:sp>
        <p:nvSpPr>
          <p:cNvPr id="42" name="text-203">
            <a:extLst xmlns:a="http://schemas.openxmlformats.org/drawingml/2006/main">
              <a:ext uri="{FF2B5EF4-FFF2-40B4-BE49-F238E27FC236}">
                <a16:creationId xmlns:a16="http://schemas.microsoft.com/office/drawing/2014/main" id="{A948299E-C6DA-4DA3-B5E5-CD2157EB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34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4"/>
                </a:solidFill>
              </a:defRPr>
            </a:pPr>
            <a:r>
              <a:rPr sz="1350" b="1">
                <a:solidFill>
                  <a:srgbClr val="F7F7F4"/>
                </a:solidFill>
              </a:rPr>
              <a:t>Ключевой принцип: AI извлекает наблюдения, а воспроизводимые бизнес-метрики считает код.</a:t>
            </a:r>
          </a:p>
        </p:txBody>
      </p:sp>
    </p:spTree>
    <p:extLst>
      <p:ext uri="{BB962C8B-B14F-4D97-AF65-F5344CB8AC3E}">
        <p14:creationId xmlns:p14="http://schemas.microsoft.com/office/powerpoint/2010/main" val="19485133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52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204">
            <a:extLst xmlns:a="http://schemas.openxmlformats.org/drawingml/2006/main">
              <a:ext uri="{FF2B5EF4-FFF2-40B4-BE49-F238E27FC236}">
                <a16:creationId xmlns:a16="http://schemas.microsoft.com/office/drawing/2014/main" id="{087B368A-C05D-4653-84EC-F73B5063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DISPATCHER INTELLIGENCE</a:t>
            </a:r>
          </a:p>
        </p:txBody>
      </p:sp>
      <p:sp>
        <p:nvSpPr>
          <p:cNvPr id="2" name="text-205">
            <a:extLst xmlns:a="http://schemas.openxmlformats.org/drawingml/2006/main">
              <a:ext uri="{FF2B5EF4-FFF2-40B4-BE49-F238E27FC236}">
                <a16:creationId xmlns:a16="http://schemas.microsoft.com/office/drawing/2014/main" id="{2F85D38C-2E76-4F33-8D96-40D60760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7F4"/>
                </a:solidFill>
              </a:defRPr>
            </a:pPr>
            <a:r>
              <a:rPr sz="2850" b="1">
                <a:solidFill>
                  <a:srgbClr val="F7F7F4"/>
                </a:solidFill>
              </a:rPr>
              <a:t>Деплой и эксплуатация</a:t>
            </a:r>
          </a:p>
        </p:txBody>
      </p:sp>
      <p:sp>
        <p:nvSpPr>
          <p:cNvPr id="3" name="box-206">
            <a:extLst xmlns:a="http://schemas.openxmlformats.org/drawingml/2006/main">
              <a:ext uri="{FF2B5EF4-FFF2-40B4-BE49-F238E27FC236}">
                <a16:creationId xmlns:a16="http://schemas.microsoft.com/office/drawing/2014/main" id="{99EAC3C9-341B-4162-A1D5-CB1DF207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207">
            <a:extLst xmlns:a="http://schemas.openxmlformats.org/drawingml/2006/main">
              <a:ext uri="{FF2B5EF4-FFF2-40B4-BE49-F238E27FC236}">
                <a16:creationId xmlns:a16="http://schemas.microsoft.com/office/drawing/2014/main" id="{3E60CC8C-A22A-435D-9FC2-484C91B7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C0C8"/>
                </a:solidFill>
              </a:defRPr>
            </a:pPr>
            <a:r>
              <a:rPr sz="825" b="1">
                <a:solidFill>
                  <a:srgbClr val="B7C0C8"/>
                </a:solidFill>
              </a:rPr>
              <a:t>10</a:t>
            </a:r>
          </a:p>
        </p:txBody>
      </p:sp>
      <p:sp>
        <p:nvSpPr>
          <p:cNvPr id="5" name="text-208">
            <a:extLst xmlns:a="http://schemas.openxmlformats.org/drawingml/2006/main">
              <a:ext uri="{FF2B5EF4-FFF2-40B4-BE49-F238E27FC236}">
                <a16:creationId xmlns:a16="http://schemas.microsoft.com/office/drawing/2014/main" id="{1BBE9B9F-CA97-464F-AC9C-6A839B95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7F4"/>
                </a:solidFill>
              </a:defRPr>
            </a:pPr>
            <a:r>
              <a:rPr sz="2250" b="1">
                <a:solidFill>
                  <a:srgbClr val="F7F7F4"/>
                </a:solidFill>
              </a:rPr>
              <a:t>Система уже развёрнута</a:t>
            </a:r>
          </a:p>
        </p:txBody>
      </p:sp>
      <p:sp>
        <p:nvSpPr>
          <p:cNvPr id="6" name="text-209">
            <a:extLst xmlns:a="http://schemas.openxmlformats.org/drawingml/2006/main">
              <a:ext uri="{FF2B5EF4-FFF2-40B4-BE49-F238E27FC236}">
                <a16:creationId xmlns:a16="http://schemas.microsoft.com/office/drawing/2014/main" id="{A76C9987-8F00-4006-AF20-A9D93001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0C8"/>
                </a:solidFill>
              </a:defRPr>
            </a:pPr>
            <a:r>
              <a:rPr sz="1425" b="0">
                <a:solidFill>
                  <a:srgbClr val="B7C0C8"/>
                </a:solidFill>
              </a:rPr>
              <a:t>Два Render web service автоматически обновляются после commit в main.</a:t>
            </a:r>
          </a:p>
        </p:txBody>
      </p:sp>
      <p:sp>
        <p:nvSpPr>
          <p:cNvPr id="7" name="box-210">
            <a:extLst xmlns:a="http://schemas.openxmlformats.org/drawingml/2006/main">
              <a:ext uri="{FF2B5EF4-FFF2-40B4-BE49-F238E27FC236}">
                <a16:creationId xmlns:a16="http://schemas.microsoft.com/office/drawing/2014/main" id="{677213F2-D14E-4F4A-AC60-22CEF00F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14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8" name="box-211">
            <a:extLst xmlns:a="http://schemas.openxmlformats.org/drawingml/2006/main">
              <a:ext uri="{FF2B5EF4-FFF2-40B4-BE49-F238E27FC236}">
                <a16:creationId xmlns:a16="http://schemas.microsoft.com/office/drawing/2014/main" id="{BC556284-B773-43C3-AB90-96DDF3C8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704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79C7E3"/>
            </a:solidFill>
            <a:prstDash val="solid"/>
          </a:ln>
        </p:spPr>
      </p:sp>
      <p:sp>
        <p:nvSpPr>
          <p:cNvPr id="9" name="text-212">
            <a:extLst xmlns:a="http://schemas.openxmlformats.org/drawingml/2006/main">
              <a:ext uri="{FF2B5EF4-FFF2-40B4-BE49-F238E27FC236}">
                <a16:creationId xmlns:a16="http://schemas.microsoft.com/office/drawing/2014/main" id="{F8D6106F-6D94-442A-9BB7-87880399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9C7E3"/>
                </a:solidFill>
              </a:defRPr>
            </a:pPr>
            <a:r>
              <a:rPr sz="900" b="1">
                <a:solidFill>
                  <a:srgbClr val="79C7E3"/>
                </a:solidFill>
              </a:rPr>
              <a:t>WEB</a:t>
            </a:r>
          </a:p>
        </p:txBody>
      </p:sp>
      <p:sp>
        <p:nvSpPr>
          <p:cNvPr id="10" name="text-213">
            <a:extLst xmlns:a="http://schemas.openxmlformats.org/drawingml/2006/main">
              <a:ext uri="{FF2B5EF4-FFF2-40B4-BE49-F238E27FC236}">
                <a16:creationId xmlns:a16="http://schemas.microsoft.com/office/drawing/2014/main" id="{7C18786B-8ED8-4DF1-AE1A-6009AA9E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575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4"/>
                </a:solidFill>
              </a:defRPr>
            </a:pPr>
            <a:r>
              <a:rPr sz="1500" b="1">
                <a:solidFill>
                  <a:srgbClr val="F7F7F4"/>
                </a:solidFill>
              </a:rPr>
              <a:t>Next.js frontend</a:t>
            </a:r>
          </a:p>
        </p:txBody>
      </p:sp>
      <p:sp>
        <p:nvSpPr>
          <p:cNvPr id="11" name="text-214">
            <a:extLst xmlns:a="http://schemas.openxmlformats.org/drawingml/2006/main">
              <a:ext uri="{FF2B5EF4-FFF2-40B4-BE49-F238E27FC236}">
                <a16:creationId xmlns:a16="http://schemas.microsoft.com/office/drawing/2014/main" id="{E36CE4F7-F252-482C-AC77-FC4697BD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004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C0C8"/>
                </a:solidFill>
              </a:defRPr>
            </a:pPr>
            <a:r>
              <a:rPr sz="1125" b="0">
                <a:solidFill>
                  <a:srgbClr val="B7C0C8"/>
                </a:solidFill>
              </a:rPr>
              <a:t>disp-scenario-web.onrender.com</a:t>
            </a:r>
          </a:p>
        </p:txBody>
      </p:sp>
      <p:sp>
        <p:nvSpPr>
          <p:cNvPr id="12" name="box-215">
            <a:extLst xmlns:a="http://schemas.openxmlformats.org/drawingml/2006/main">
              <a:ext uri="{FF2B5EF4-FFF2-40B4-BE49-F238E27FC236}">
                <a16:creationId xmlns:a16="http://schemas.microsoft.com/office/drawing/2014/main" id="{321186D5-C8C1-41F5-98A5-57BDA888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514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13" name="box-216">
            <a:extLst xmlns:a="http://schemas.openxmlformats.org/drawingml/2006/main">
              <a:ext uri="{FF2B5EF4-FFF2-40B4-BE49-F238E27FC236}">
                <a16:creationId xmlns:a16="http://schemas.microsoft.com/office/drawing/2014/main" id="{05912A78-E30A-47FF-A96C-2FE8754A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704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7ED6A5"/>
            </a:solidFill>
            <a:prstDash val="solid"/>
          </a:ln>
        </p:spPr>
      </p:sp>
      <p:sp>
        <p:nvSpPr>
          <p:cNvPr id="14" name="text-217">
            <a:extLst xmlns:a="http://schemas.openxmlformats.org/drawingml/2006/main">
              <a:ext uri="{FF2B5EF4-FFF2-40B4-BE49-F238E27FC236}">
                <a16:creationId xmlns:a16="http://schemas.microsoft.com/office/drawing/2014/main" id="{A9145E85-C1A9-44DC-AC9F-14A137C2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ED6A5"/>
                </a:solidFill>
              </a:defRPr>
            </a:pPr>
            <a:r>
              <a:rPr sz="900" b="1">
                <a:solidFill>
                  <a:srgbClr val="7ED6A5"/>
                </a:solidFill>
              </a:rPr>
              <a:t>API</a:t>
            </a:r>
          </a:p>
        </p:txBody>
      </p:sp>
      <p:sp>
        <p:nvSpPr>
          <p:cNvPr id="15" name="text-218">
            <a:extLst xmlns:a="http://schemas.openxmlformats.org/drawingml/2006/main">
              <a:ext uri="{FF2B5EF4-FFF2-40B4-BE49-F238E27FC236}">
                <a16:creationId xmlns:a16="http://schemas.microsoft.com/office/drawing/2014/main" id="{A140F164-CA53-491F-878A-76C9660F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577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4"/>
                </a:solidFill>
              </a:defRPr>
            </a:pPr>
            <a:r>
              <a:rPr sz="1500" b="1">
                <a:solidFill>
                  <a:srgbClr val="F7F7F4"/>
                </a:solidFill>
              </a:rPr>
              <a:t>Go API + PostgreSQL job runner</a:t>
            </a:r>
          </a:p>
        </p:txBody>
      </p:sp>
      <p:sp>
        <p:nvSpPr>
          <p:cNvPr id="16" name="text-219">
            <a:extLst xmlns:a="http://schemas.openxmlformats.org/drawingml/2006/main">
              <a:ext uri="{FF2B5EF4-FFF2-40B4-BE49-F238E27FC236}">
                <a16:creationId xmlns:a16="http://schemas.microsoft.com/office/drawing/2014/main" id="{788CA8F2-6D43-4ECA-9DD5-51E60870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00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C0C8"/>
                </a:solidFill>
              </a:defRPr>
            </a:pPr>
            <a:r>
              <a:rPr sz="1125" b="0">
                <a:solidFill>
                  <a:srgbClr val="B7C0C8"/>
                </a:solidFill>
              </a:rPr>
              <a:t>disp-scenario-api.onrender.com</a:t>
            </a:r>
          </a:p>
        </p:txBody>
      </p:sp>
      <p:sp>
        <p:nvSpPr>
          <p:cNvPr id="17" name="box-220">
            <a:extLst xmlns:a="http://schemas.openxmlformats.org/drawingml/2006/main">
              <a:ext uri="{FF2B5EF4-FFF2-40B4-BE49-F238E27FC236}">
                <a16:creationId xmlns:a16="http://schemas.microsoft.com/office/drawing/2014/main" id="{4FDB3D4B-08AB-4304-A8D2-7F1F2EBD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5410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53575B"/>
            </a:solidFill>
            <a:prstDash val="solid"/>
          </a:ln>
        </p:spPr>
      </p:sp>
      <p:sp>
        <p:nvSpPr>
          <p:cNvPr id="18" name="text-221">
            <a:extLst xmlns:a="http://schemas.openxmlformats.org/drawingml/2006/main">
              <a:ext uri="{FF2B5EF4-FFF2-40B4-BE49-F238E27FC236}">
                <a16:creationId xmlns:a16="http://schemas.microsoft.com/office/drawing/2014/main" id="{79816EC2-5E6F-41F1-A873-0F7EBC61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7E3"/>
                </a:solidFill>
              </a:defRPr>
            </a:pPr>
            <a:r>
              <a:rPr sz="1800" b="1">
                <a:solidFill>
                  <a:srgbClr val="79C7E3"/>
                </a:solidFill>
              </a:rPr>
              <a:t>Production pipeline</a:t>
            </a:r>
          </a:p>
        </p:txBody>
      </p:sp>
      <p:sp>
        <p:nvSpPr>
          <p:cNvPr id="19" name="text-222">
            <a:extLst xmlns:a="http://schemas.openxmlformats.org/drawingml/2006/main">
              <a:ext uri="{FF2B5EF4-FFF2-40B4-BE49-F238E27FC236}">
                <a16:creationId xmlns:a16="http://schemas.microsoft.com/office/drawing/2014/main" id="{E0AB1ED1-7DEC-4E0B-8F19-A33D172E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C7E3"/>
                </a:solidFill>
              </a:defRPr>
            </a:pPr>
            <a:r>
              <a:rPr sz="1050" b="1">
                <a:solidFill>
                  <a:srgbClr val="79C7E3"/>
                </a:solidFill>
              </a:rPr>
              <a:t>01</a:t>
            </a:r>
          </a:p>
        </p:txBody>
      </p:sp>
      <p:sp>
        <p:nvSpPr>
          <p:cNvPr id="20" name="text-223">
            <a:extLst xmlns:a="http://schemas.openxmlformats.org/drawingml/2006/main">
              <a:ext uri="{FF2B5EF4-FFF2-40B4-BE49-F238E27FC236}">
                <a16:creationId xmlns:a16="http://schemas.microsoft.com/office/drawing/2014/main" id="{BDFBC00A-855B-4D63-A664-4335F081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38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4"/>
                </a:solidFill>
              </a:defRPr>
            </a:pPr>
            <a:r>
              <a:rPr sz="1350" b="0">
                <a:solidFill>
                  <a:srgbClr val="F7F7F4"/>
                </a:solidFill>
              </a:rPr>
              <a:t>GitHub push</a:t>
            </a:r>
          </a:p>
        </p:txBody>
      </p:sp>
      <p:sp>
        <p:nvSpPr>
          <p:cNvPr id="21" name="text-224">
            <a:extLst xmlns:a="http://schemas.openxmlformats.org/drawingml/2006/main">
              <a:ext uri="{FF2B5EF4-FFF2-40B4-BE49-F238E27FC236}">
                <a16:creationId xmlns:a16="http://schemas.microsoft.com/office/drawing/2014/main" id="{44030F57-14EB-4FD3-B35F-E08FB4CE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9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C7E3"/>
                </a:solidFill>
              </a:defRPr>
            </a:pPr>
            <a:r>
              <a:rPr sz="1050" b="1">
                <a:solidFill>
                  <a:srgbClr val="79C7E3"/>
                </a:solidFill>
              </a:rPr>
              <a:t>02</a:t>
            </a:r>
          </a:p>
        </p:txBody>
      </p:sp>
      <p:sp>
        <p:nvSpPr>
          <p:cNvPr id="22" name="text-225">
            <a:extLst xmlns:a="http://schemas.openxmlformats.org/drawingml/2006/main">
              <a:ext uri="{FF2B5EF4-FFF2-40B4-BE49-F238E27FC236}">
                <a16:creationId xmlns:a16="http://schemas.microsoft.com/office/drawing/2014/main" id="{8F2E9A51-CF4D-4F80-87FF-0F830C89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4"/>
                </a:solidFill>
              </a:defRPr>
            </a:pPr>
            <a:r>
              <a:rPr sz="1350" b="0">
                <a:solidFill>
                  <a:srgbClr val="F7F7F4"/>
                </a:solidFill>
              </a:rPr>
              <a:t>CI: unit + integration + build</a:t>
            </a:r>
          </a:p>
        </p:txBody>
      </p:sp>
      <p:sp>
        <p:nvSpPr>
          <p:cNvPr id="23" name="text-226">
            <a:extLst xmlns:a="http://schemas.openxmlformats.org/drawingml/2006/main">
              <a:ext uri="{FF2B5EF4-FFF2-40B4-BE49-F238E27FC236}">
                <a16:creationId xmlns:a16="http://schemas.microsoft.com/office/drawing/2014/main" id="{94D485B3-91A8-41F3-B96D-FE925BB0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62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C7E3"/>
                </a:solidFill>
              </a:defRPr>
            </a:pPr>
            <a:r>
              <a:rPr sz="1050" b="1">
                <a:solidFill>
                  <a:srgbClr val="79C7E3"/>
                </a:solidFill>
              </a:rPr>
              <a:t>03</a:t>
            </a:r>
          </a:p>
        </p:txBody>
      </p:sp>
      <p:sp>
        <p:nvSpPr>
          <p:cNvPr id="24" name="text-227">
            <a:extLst xmlns:a="http://schemas.openxmlformats.org/drawingml/2006/main">
              <a:ext uri="{FF2B5EF4-FFF2-40B4-BE49-F238E27FC236}">
                <a16:creationId xmlns:a16="http://schemas.microsoft.com/office/drawing/2014/main" id="{D23F87DE-106B-4C60-8AF3-AA7246B4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43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4"/>
                </a:solidFill>
              </a:defRPr>
            </a:pPr>
            <a:r>
              <a:rPr sz="1350" b="0">
                <a:solidFill>
                  <a:srgbClr val="F7F7F4"/>
                </a:solidFill>
              </a:rPr>
              <a:t>real-video E2E</a:t>
            </a:r>
          </a:p>
        </p:txBody>
      </p:sp>
      <p:sp>
        <p:nvSpPr>
          <p:cNvPr id="25" name="text-228">
            <a:extLst xmlns:a="http://schemas.openxmlformats.org/drawingml/2006/main">
              <a:ext uri="{FF2B5EF4-FFF2-40B4-BE49-F238E27FC236}">
                <a16:creationId xmlns:a16="http://schemas.microsoft.com/office/drawing/2014/main" id="{8FB5C24A-AB1E-406B-A869-78D21FD1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14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C7E3"/>
                </a:solidFill>
              </a:defRPr>
            </a:pPr>
            <a:r>
              <a:rPr sz="1050" b="1">
                <a:solidFill>
                  <a:srgbClr val="79C7E3"/>
                </a:solidFill>
              </a:rPr>
              <a:t>04</a:t>
            </a:r>
          </a:p>
        </p:txBody>
      </p:sp>
      <p:sp>
        <p:nvSpPr>
          <p:cNvPr id="26" name="text-229">
            <a:extLst xmlns:a="http://schemas.openxmlformats.org/drawingml/2006/main">
              <a:ext uri="{FF2B5EF4-FFF2-40B4-BE49-F238E27FC236}">
                <a16:creationId xmlns:a16="http://schemas.microsoft.com/office/drawing/2014/main" id="{53C10D64-8679-4803-8914-AA0E8328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9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4"/>
                </a:solidFill>
              </a:defRPr>
            </a:pPr>
            <a:r>
              <a:rPr sz="1350" b="0">
                <a:solidFill>
                  <a:srgbClr val="F7F7F4"/>
                </a:solidFill>
              </a:rPr>
              <a:t>Render build + migrations</a:t>
            </a:r>
          </a:p>
        </p:txBody>
      </p:sp>
      <p:sp>
        <p:nvSpPr>
          <p:cNvPr id="27" name="text-230">
            <a:extLst xmlns:a="http://schemas.openxmlformats.org/drawingml/2006/main">
              <a:ext uri="{FF2B5EF4-FFF2-40B4-BE49-F238E27FC236}">
                <a16:creationId xmlns:a16="http://schemas.microsoft.com/office/drawing/2014/main" id="{471D4EEE-B7E7-4764-AF31-FE8DC81F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67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C7E3"/>
                </a:solidFill>
              </a:defRPr>
            </a:pPr>
            <a:r>
              <a:rPr sz="1050" b="1">
                <a:solidFill>
                  <a:srgbClr val="79C7E3"/>
                </a:solidFill>
              </a:rPr>
              <a:t>05</a:t>
            </a:r>
          </a:p>
        </p:txBody>
      </p:sp>
      <p:sp>
        <p:nvSpPr>
          <p:cNvPr id="28" name="text-231">
            <a:extLst xmlns:a="http://schemas.openxmlformats.org/drawingml/2006/main">
              <a:ext uri="{FF2B5EF4-FFF2-40B4-BE49-F238E27FC236}">
                <a16:creationId xmlns:a16="http://schemas.microsoft.com/office/drawing/2014/main" id="{235E0805-2948-4C9D-805C-952A89A3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48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7F4"/>
                </a:solidFill>
              </a:defRPr>
            </a:pPr>
            <a:r>
              <a:rPr sz="1350" b="1">
                <a:solidFill>
                  <a:srgbClr val="F7F7F4"/>
                </a:solidFill>
              </a:rPr>
              <a:t>health check + monitoring</a:t>
            </a:r>
          </a:p>
        </p:txBody>
      </p:sp>
      <p:sp>
        <p:nvSpPr>
          <p:cNvPr id="29" name="box-232">
            <a:extLst xmlns:a="http://schemas.openxmlformats.org/drawingml/2006/main">
              <a:ext uri="{FF2B5EF4-FFF2-40B4-BE49-F238E27FC236}">
                <a16:creationId xmlns:a16="http://schemas.microsoft.com/office/drawing/2014/main" id="{E9ECC420-A310-4ECD-AA01-41961A06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753100"/>
            <a:ext cx="541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9525">
            <a:solidFill>
              <a:srgbClr val="7ED6A5"/>
            </a:solidFill>
            <a:prstDash val="solid"/>
          </a:ln>
        </p:spPr>
      </p:sp>
      <p:sp>
        <p:nvSpPr>
          <p:cNvPr id="30" name="text-233">
            <a:extLst xmlns:a="http://schemas.openxmlformats.org/drawingml/2006/main">
              <a:ext uri="{FF2B5EF4-FFF2-40B4-BE49-F238E27FC236}">
                <a16:creationId xmlns:a16="http://schemas.microsoft.com/office/drawing/2014/main" id="{B070A075-189A-4A8A-8CE9-AD2E17F6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769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ED6A5"/>
                </a:solidFill>
              </a:defRPr>
            </a:pPr>
            <a:r>
              <a:rPr sz="1350" b="1">
                <a:solidFill>
                  <a:srgbClr val="7ED6A5"/>
                </a:solidFill>
              </a:rPr>
              <a:t>CI ✓  •  API 200 ✓  •  Web 200 ✓</a:t>
            </a:r>
          </a:p>
        </p:txBody>
      </p:sp>
    </p:spTree>
    <p:extLst>
      <p:ext uri="{BB962C8B-B14F-4D97-AF65-F5344CB8AC3E}">
        <p14:creationId xmlns:p14="http://schemas.microsoft.com/office/powerpoint/2010/main" val="782787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2026-07-01T08:07:19.6950000Z</dcterms:created>
  <dcterms:modified xsi:type="dcterms:W3CDTF">2026-07-01T08:07:19.6950000Z</dcterms:modified>
</coreProperties>
</file>